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0" r:id="rId4"/>
    <p:sldId id="261" r:id="rId5"/>
    <p:sldId id="277" r:id="rId6"/>
    <p:sldId id="258" r:id="rId7"/>
    <p:sldId id="259" r:id="rId8"/>
    <p:sldId id="263" r:id="rId9"/>
    <p:sldId id="264" r:id="rId10"/>
    <p:sldId id="265" r:id="rId11"/>
    <p:sldId id="266" r:id="rId12"/>
    <p:sldId id="273" r:id="rId13"/>
    <p:sldId id="267" r:id="rId14"/>
    <p:sldId id="268" r:id="rId15"/>
    <p:sldId id="275" r:id="rId16"/>
    <p:sldId id="274" r:id="rId17"/>
    <p:sldId id="269" r:id="rId18"/>
    <p:sldId id="270" r:id="rId19"/>
    <p:sldId id="271" r:id="rId2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5" d="100"/>
          <a:sy n="75" d="100"/>
        </p:scale>
        <p:origin x="154"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3D1A"/>
        </a:solidFill>
        <a:effectLst/>
      </p:bgPr>
    </p:bg>
    <p:spTree>
      <p:nvGrpSpPr>
        <p:cNvPr id="1" name=""/>
        <p:cNvGrpSpPr/>
        <p:nvPr/>
      </p:nvGrpSpPr>
      <p:grpSpPr>
        <a:xfrm>
          <a:off x="0" y="0"/>
          <a:ext cx="0" cy="0"/>
          <a:chOff x="0" y="0"/>
          <a:chExt cx="0" cy="0"/>
        </a:xfrm>
      </p:grpSpPr>
      <p:sp>
        <p:nvSpPr>
          <p:cNvPr id="2" name="Oval 1"/>
          <p:cNvSpPr/>
          <p:nvPr/>
        </p:nvSpPr>
        <p:spPr>
          <a:xfrm>
            <a:off x="9052560" y="-548640"/>
            <a:ext cx="2926080" cy="2926080"/>
          </a:xfrm>
          <a:prstGeom prst="ellipse">
            <a:avLst/>
          </a:prstGeom>
          <a:solidFill>
            <a:srgbClr val="2E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332720" y="1554480"/>
            <a:ext cx="2011680" cy="2011680"/>
          </a:xfrm>
          <a:prstGeom prst="ellipse">
            <a:avLst/>
          </a:prstGeom>
          <a:solidFill>
            <a:srgbClr val="264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8869680" y="1554480"/>
            <a:ext cx="1463040" cy="1463040"/>
          </a:xfrm>
          <a:prstGeom prst="ellipse">
            <a:avLst/>
          </a:prstGeom>
          <a:solidFill>
            <a:srgbClr val="224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2377440"/>
            <a:ext cx="12188952" cy="73152"/>
          </a:xfrm>
          <a:prstGeom prst="rect">
            <a:avLst/>
          </a:prstGeom>
          <a:solidFill>
            <a:srgbClr val="8EC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731520"/>
            <a:ext cx="9144000" cy="1645920"/>
          </a:xfrm>
          <a:prstGeom prst="rect">
            <a:avLst/>
          </a:prstGeom>
          <a:noFill/>
        </p:spPr>
        <p:txBody>
          <a:bodyPr wrap="none">
            <a:spAutoFit/>
          </a:bodyPr>
          <a:lstStyle/>
          <a:p>
            <a:r>
              <a:rPr sz="5600" b="1">
                <a:solidFill>
                  <a:srgbClr val="8ECF3A"/>
                </a:solidFill>
              </a:rPr>
              <a:t>baaad-strategy</a:t>
            </a:r>
          </a:p>
        </p:txBody>
      </p:sp>
      <p:sp>
        <p:nvSpPr>
          <p:cNvPr id="7" name="TextBox 6"/>
          <p:cNvSpPr txBox="1"/>
          <p:nvPr/>
        </p:nvSpPr>
        <p:spPr>
          <a:xfrm>
            <a:off x="548640" y="2514600"/>
            <a:ext cx="10058400" cy="1097280"/>
          </a:xfrm>
          <a:prstGeom prst="rect">
            <a:avLst/>
          </a:prstGeom>
          <a:noFill/>
        </p:spPr>
        <p:txBody>
          <a:bodyPr wrap="square">
            <a:spAutoFit/>
          </a:bodyPr>
          <a:lstStyle/>
          <a:p>
            <a:r>
              <a:rPr sz="2600" i="1">
                <a:solidFill>
                  <a:srgbClr val="FFFBF0"/>
                </a:solidFill>
              </a:rPr>
              <a:t>A Monte Carlo simulation proving the sheep strategy in Catan is baaad</a:t>
            </a:r>
          </a:p>
        </p:txBody>
      </p:sp>
      <p:sp>
        <p:nvSpPr>
          <p:cNvPr id="8" name="TextBox 7"/>
          <p:cNvSpPr txBox="1"/>
          <p:nvPr/>
        </p:nvSpPr>
        <p:spPr>
          <a:xfrm>
            <a:off x="548640" y="3749039"/>
            <a:ext cx="10058400" cy="731520"/>
          </a:xfrm>
          <a:prstGeom prst="rect">
            <a:avLst/>
          </a:prstGeom>
          <a:noFill/>
        </p:spPr>
        <p:txBody>
          <a:bodyPr wrap="none">
            <a:spAutoFit/>
          </a:bodyPr>
          <a:lstStyle/>
          <a:p>
            <a:r>
              <a:rPr sz="1800">
                <a:solidFill>
                  <a:srgbClr val="E8C030"/>
                </a:solidFill>
              </a:rPr>
              <a:t>Built in R  ·  1,000 simulated games  ·  χ² statistical significance testing</a:t>
            </a:r>
          </a:p>
        </p:txBody>
      </p:sp>
      <p:sp>
        <p:nvSpPr>
          <p:cNvPr id="9" name="TextBox 8"/>
          <p:cNvSpPr txBox="1"/>
          <p:nvPr/>
        </p:nvSpPr>
        <p:spPr>
          <a:xfrm>
            <a:off x="548640" y="6217920"/>
            <a:ext cx="5486400" cy="457200"/>
          </a:xfrm>
          <a:prstGeom prst="rect">
            <a:avLst/>
          </a:prstGeom>
          <a:noFill/>
        </p:spPr>
        <p:txBody>
          <a:bodyPr wrap="square">
            <a:spAutoFit/>
          </a:bodyPr>
          <a:lstStyle/>
          <a:p>
            <a:pPr algn="l"/>
            <a:r>
              <a:rPr sz="1300" b="0" i="0">
                <a:solidFill>
                  <a:srgbClr val="88AA88"/>
                </a:solidFill>
              </a:rPr>
              <a:t>github.com/ayoung31/baaad-strategy</a:t>
            </a:r>
          </a:p>
        </p:txBody>
      </p:sp>
      <p:pic>
        <p:nvPicPr>
          <p:cNvPr id="10" name="Picture 9" descr="baaad_sticker.png"/>
          <p:cNvPicPr>
            <a:picLocks noChangeAspect="1"/>
          </p:cNvPicPr>
          <p:nvPr/>
        </p:nvPicPr>
        <p:blipFill>
          <a:blip r:embed="rId2"/>
          <a:stretch>
            <a:fillRect/>
          </a:stretch>
        </p:blipFill>
        <p:spPr>
          <a:xfrm>
            <a:off x="9618735" y="228600"/>
            <a:ext cx="2295896" cy="2651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What Is This Project?</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280160"/>
            <a:ext cx="11155680" cy="5120640"/>
          </a:xfrm>
          <a:prstGeom prst="rect">
            <a:avLst/>
          </a:prstGeom>
          <a:noFill/>
        </p:spPr>
        <p:txBody>
          <a:bodyPr wrap="square">
            <a:spAutoFit/>
          </a:bodyPr>
          <a:lstStyle/>
          <a:p>
            <a:r>
              <a:rPr sz="2000" b="1">
                <a:solidFill>
                  <a:srgbClr val="1A3D1A"/>
                </a:solidFill>
              </a:rPr>
              <a:t>▸  Settle the debate: is going all-in on sheep actually a good Catan strategy?</a:t>
            </a:r>
          </a:p>
          <a:p>
            <a:pPr lvl="1"/>
            <a:r>
              <a:rPr sz="1700" b="0">
                <a:solidFill>
                  <a:srgbClr val="1A1A1A"/>
                </a:solidFill>
              </a:rPr>
              <a:t>     •  The 'sheep strategy' — settle on high-wool hexes, race to the 2:1 Wool port</a:t>
            </a:r>
          </a:p>
          <a:p>
            <a:pPr lvl="1"/>
            <a:r>
              <a:rPr sz="1700" b="0">
                <a:solidFill>
                  <a:srgbClr val="1A1A1A"/>
                </a:solidFill>
              </a:rPr>
              <a:t>     •  Sounds clever in theory; this project tests it statistically</a:t>
            </a:r>
          </a:p>
          <a:p>
            <a:r>
              <a:rPr sz="2000" b="1">
                <a:solidFill>
                  <a:srgbClr val="1A3D1A"/>
                </a:solidFill>
              </a:rPr>
              <a:t>▸  Approach: Monte Carlo simulation in R</a:t>
            </a:r>
          </a:p>
          <a:p>
            <a:pPr lvl="1"/>
            <a:r>
              <a:rPr sz="1700" b="0">
                <a:solidFill>
                  <a:srgbClr val="1A1A1A"/>
                </a:solidFill>
              </a:rPr>
              <a:t>     •  Run 1,000 full Catan games with three competing strategies</a:t>
            </a:r>
          </a:p>
          <a:p>
            <a:pPr lvl="1"/>
            <a:r>
              <a:rPr sz="1700" b="0">
                <a:solidFill>
                  <a:srgbClr val="1A1A1A"/>
                </a:solidFill>
              </a:rPr>
              <a:t>     •  Compare win rates using a chi-squared significance test (p &lt; 0.05)</a:t>
            </a:r>
          </a:p>
          <a:p>
            <a:r>
              <a:rPr sz="2000" b="1">
                <a:solidFill>
                  <a:srgbClr val="1A3D1A"/>
                </a:solidFill>
              </a:rPr>
              <a:t>▸  Result: sheep strategy loses significantly — the numbers don't lie</a:t>
            </a:r>
          </a:p>
          <a:p>
            <a:pPr lvl="1"/>
            <a:r>
              <a:rPr sz="1700" b="0">
                <a:solidFill>
                  <a:srgbClr val="1A1A1A"/>
                </a:solidFill>
              </a:rPr>
              <a:t>     •  Reproducible with a fixed random seed</a:t>
            </a:r>
          </a:p>
          <a:p>
            <a:pPr lvl="1"/>
            <a:r>
              <a:rPr sz="1700" b="0">
                <a:solidFill>
                  <a:srgbClr val="1A1A1A"/>
                </a:solidFill>
              </a:rPr>
              <a:t>     •  All results written to results/simulation_results.csv</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Catan Primer: Resources &amp; Building Costs</a:t>
            </a:r>
          </a:p>
        </p:txBody>
      </p:sp>
      <p:graphicFrame>
        <p:nvGraphicFramePr>
          <p:cNvPr id="4" name="Table 3"/>
          <p:cNvGraphicFramePr>
            <a:graphicFrameLocks noGrp="1"/>
          </p:cNvGraphicFramePr>
          <p:nvPr/>
        </p:nvGraphicFramePr>
        <p:xfrm>
          <a:off x="548640" y="1188720"/>
          <a:ext cx="11064240" cy="512064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5669280">
                  <a:extLst>
                    <a:ext uri="{9D8B030D-6E8A-4147-A177-3AD203B41FA5}">
                      <a16:colId xmlns:a16="http://schemas.microsoft.com/office/drawing/2014/main" val="20003"/>
                    </a:ext>
                  </a:extLst>
                </a:gridCol>
              </a:tblGrid>
              <a:tr h="731520">
                <a:tc>
                  <a:txBody>
                    <a:bodyPr/>
                    <a:lstStyle/>
                    <a:p>
                      <a:pPr algn="ctr"/>
                      <a:r>
                        <a:rPr sz="1500" b="1">
                          <a:solidFill>
                            <a:srgbClr val="FFFBF0"/>
                          </a:solidFill>
                        </a:rPr>
                        <a:t>Item</a:t>
                      </a:r>
                    </a:p>
                  </a:txBody>
                  <a:tcPr>
                    <a:solidFill>
                      <a:srgbClr val="1A3D1A"/>
                    </a:solidFill>
                  </a:tcPr>
                </a:tc>
                <a:tc>
                  <a:txBody>
                    <a:bodyPr/>
                    <a:lstStyle/>
                    <a:p>
                      <a:pPr algn="ctr"/>
                      <a:r>
                        <a:rPr sz="1500" b="1">
                          <a:solidFill>
                            <a:srgbClr val="FFFBF0"/>
                          </a:solidFill>
                        </a:rPr>
                        <a:t>Cost</a:t>
                      </a:r>
                    </a:p>
                  </a:txBody>
                  <a:tcPr>
                    <a:solidFill>
                      <a:srgbClr val="1A3D1A"/>
                    </a:solidFill>
                  </a:tcPr>
                </a:tc>
                <a:tc>
                  <a:txBody>
                    <a:bodyPr/>
                    <a:lstStyle/>
                    <a:p>
                      <a:pPr algn="ctr"/>
                      <a:r>
                        <a:rPr sz="1500" b="1">
                          <a:solidFill>
                            <a:srgbClr val="FFFBF0"/>
                          </a:solidFill>
                        </a:rPr>
                        <a:t>VP</a:t>
                      </a:r>
                    </a:p>
                  </a:txBody>
                  <a:tcPr>
                    <a:solidFill>
                      <a:srgbClr val="1A3D1A"/>
                    </a:solidFill>
                  </a:tcPr>
                </a:tc>
                <a:tc>
                  <a:txBody>
                    <a:bodyPr/>
                    <a:lstStyle/>
                    <a:p>
                      <a:pPr algn="ctr"/>
                      <a:r>
                        <a:rPr sz="1500" b="1">
                          <a:solidFill>
                            <a:srgbClr val="FFFBF0"/>
                          </a:solidFill>
                        </a:rPr>
                        <a:t>Strategic Value</a:t>
                      </a:r>
                    </a:p>
                  </a:txBody>
                  <a:tcPr>
                    <a:solidFill>
                      <a:srgbClr val="1A3D1A"/>
                    </a:solidFill>
                  </a:tcPr>
                </a:tc>
                <a:extLst>
                  <a:ext uri="{0D108BD9-81ED-4DB2-BD59-A6C34878D82A}">
                    <a16:rowId xmlns:a16="http://schemas.microsoft.com/office/drawing/2014/main" val="10000"/>
                  </a:ext>
                </a:extLst>
              </a:tr>
              <a:tr h="731520">
                <a:tc>
                  <a:txBody>
                    <a:bodyPr/>
                    <a:lstStyle/>
                    <a:p>
                      <a:pPr algn="l"/>
                      <a:r>
                        <a:rPr sz="1400" b="1">
                          <a:solidFill>
                            <a:srgbClr val="1A1A1A"/>
                          </a:solidFill>
                        </a:rPr>
                        <a:t>Road</a:t>
                      </a:r>
                    </a:p>
                  </a:txBody>
                  <a:tcPr>
                    <a:solidFill>
                      <a:srgbClr val="FFFBF0"/>
                    </a:solidFill>
                  </a:tcPr>
                </a:tc>
                <a:tc>
                  <a:txBody>
                    <a:bodyPr/>
                    <a:lstStyle/>
                    <a:p>
                      <a:pPr algn="l"/>
                      <a:r>
                        <a:rPr sz="1500" b="1">
                          <a:solidFill>
                            <a:srgbClr val="3A7D2C"/>
                          </a:solidFill>
                        </a:rPr>
                        <a:t>●</a:t>
                      </a:r>
                      <a:r>
                        <a:rPr sz="1500" b="0">
                          <a:solidFill>
                            <a:srgbClr val="1A1A1A"/>
                          </a:solidFill>
                        </a:rPr>
                        <a:t> Lumber  </a:t>
                      </a:r>
                      <a:r>
                        <a:rPr sz="1500" b="1">
                          <a:solidFill>
                            <a:srgbClr val="B84A1A"/>
                          </a:solidFill>
                        </a:rPr>
                        <a:t>●</a:t>
                      </a:r>
                      <a:r>
                        <a:rPr sz="1500" b="0">
                          <a:solidFill>
                            <a:srgbClr val="1A1A1A"/>
                          </a:solidFill>
                        </a:rPr>
                        <a:t> Brick</a:t>
                      </a:r>
                    </a:p>
                  </a:txBody>
                  <a:tcPr>
                    <a:solidFill>
                      <a:srgbClr val="FFFBF0"/>
                    </a:solidFill>
                  </a:tcPr>
                </a:tc>
                <a:tc>
                  <a:txBody>
                    <a:bodyPr/>
                    <a:lstStyle/>
                    <a:p>
                      <a:pPr algn="ctr"/>
                      <a:r>
                        <a:rPr sz="1400" b="0">
                          <a:solidFill>
                            <a:srgbClr val="1A1A1A"/>
                          </a:solidFill>
                        </a:rPr>
                        <a:t>0</a:t>
                      </a:r>
                    </a:p>
                  </a:txBody>
                  <a:tcPr>
                    <a:solidFill>
                      <a:srgbClr val="FFFBF0"/>
                    </a:solidFill>
                  </a:tcPr>
                </a:tc>
                <a:tc>
                  <a:txBody>
                    <a:bodyPr/>
                    <a:lstStyle/>
                    <a:p>
                      <a:pPr algn="l"/>
                      <a:r>
                        <a:rPr sz="1400" b="0">
                          <a:solidFill>
                            <a:srgbClr val="1A1A1A"/>
                          </a:solidFill>
                        </a:rPr>
                        <a:t>Expands network; needed for Longest Road</a:t>
                      </a:r>
                    </a:p>
                  </a:txBody>
                  <a:tcPr>
                    <a:solidFill>
                      <a:srgbClr val="FFFBF0"/>
                    </a:solidFill>
                  </a:tcPr>
                </a:tc>
                <a:extLst>
                  <a:ext uri="{0D108BD9-81ED-4DB2-BD59-A6C34878D82A}">
                    <a16:rowId xmlns:a16="http://schemas.microsoft.com/office/drawing/2014/main" val="10001"/>
                  </a:ext>
                </a:extLst>
              </a:tr>
              <a:tr h="731520">
                <a:tc>
                  <a:txBody>
                    <a:bodyPr/>
                    <a:lstStyle/>
                    <a:p>
                      <a:pPr algn="l"/>
                      <a:r>
                        <a:rPr sz="1400" b="1">
                          <a:solidFill>
                            <a:srgbClr val="1A1A1A"/>
                          </a:solidFill>
                        </a:rPr>
                        <a:t>Settlement</a:t>
                      </a:r>
                    </a:p>
                  </a:txBody>
                  <a:tcPr>
                    <a:solidFill>
                      <a:srgbClr val="E8F0E0"/>
                    </a:solidFill>
                  </a:tcPr>
                </a:tc>
                <a:tc>
                  <a:txBody>
                    <a:bodyPr/>
                    <a:lstStyle/>
                    <a:p>
                      <a:pPr algn="l"/>
                      <a:r>
                        <a:rPr sz="1500" b="1">
                          <a:solidFill>
                            <a:srgbClr val="3A7D2C"/>
                          </a:solidFill>
                        </a:rPr>
                        <a:t>●</a:t>
                      </a:r>
                      <a:r>
                        <a:rPr sz="1500" b="0">
                          <a:solidFill>
                            <a:srgbClr val="1A1A1A"/>
                          </a:solidFill>
                        </a:rPr>
                        <a:t> Lumber  </a:t>
                      </a:r>
                      <a:r>
                        <a:rPr sz="1500" b="1">
                          <a:solidFill>
                            <a:srgbClr val="B84A1A"/>
                          </a:solidFill>
                        </a:rPr>
                        <a:t>●</a:t>
                      </a:r>
                      <a:r>
                        <a:rPr sz="1500" b="0">
                          <a:solidFill>
                            <a:srgbClr val="1A1A1A"/>
                          </a:solidFill>
                        </a:rPr>
                        <a:t> Brick  </a:t>
                      </a:r>
                      <a:r>
                        <a:rPr sz="1500" b="1">
                          <a:solidFill>
                            <a:srgbClr val="4A9A10"/>
                          </a:solidFill>
                        </a:rPr>
                        <a:t>●</a:t>
                      </a:r>
                      <a:r>
                        <a:rPr sz="1500" b="0">
                          <a:solidFill>
                            <a:srgbClr val="1A1A1A"/>
                          </a:solidFill>
                        </a:rPr>
                        <a:t> Wool  </a:t>
                      </a:r>
                      <a:r>
                        <a:rPr sz="1500" b="1">
                          <a:solidFill>
                            <a:srgbClr val="C09008"/>
                          </a:solidFill>
                        </a:rPr>
                        <a:t>●</a:t>
                      </a:r>
                      <a:r>
                        <a:rPr sz="1500" b="0">
                          <a:solidFill>
                            <a:srgbClr val="1A1A1A"/>
                          </a:solidFill>
                        </a:rPr>
                        <a:t> Grain</a:t>
                      </a:r>
                    </a:p>
                  </a:txBody>
                  <a:tcPr>
                    <a:solidFill>
                      <a:srgbClr val="E8F0E0"/>
                    </a:solidFill>
                  </a:tcPr>
                </a:tc>
                <a:tc>
                  <a:txBody>
                    <a:bodyPr/>
                    <a:lstStyle/>
                    <a:p>
                      <a:pPr algn="ctr"/>
                      <a:r>
                        <a:rPr sz="1400" b="0">
                          <a:solidFill>
                            <a:srgbClr val="1A1A1A"/>
                          </a:solidFill>
                        </a:rPr>
                        <a:t>1</a:t>
                      </a:r>
                    </a:p>
                  </a:txBody>
                  <a:tcPr>
                    <a:solidFill>
                      <a:srgbClr val="E8F0E0"/>
                    </a:solidFill>
                  </a:tcPr>
                </a:tc>
                <a:tc>
                  <a:txBody>
                    <a:bodyPr/>
                    <a:lstStyle/>
                    <a:p>
                      <a:pPr algn="l"/>
                      <a:r>
                        <a:rPr sz="1400" b="0">
                          <a:solidFill>
                            <a:srgbClr val="1A1A1A"/>
                          </a:solidFill>
                        </a:rPr>
                        <a:t>Unlocks new production spots</a:t>
                      </a:r>
                    </a:p>
                  </a:txBody>
                  <a:tcPr>
                    <a:solidFill>
                      <a:srgbClr val="E8F0E0"/>
                    </a:solidFill>
                  </a:tcPr>
                </a:tc>
                <a:extLst>
                  <a:ext uri="{0D108BD9-81ED-4DB2-BD59-A6C34878D82A}">
                    <a16:rowId xmlns:a16="http://schemas.microsoft.com/office/drawing/2014/main" val="10002"/>
                  </a:ext>
                </a:extLst>
              </a:tr>
              <a:tr h="731520">
                <a:tc>
                  <a:txBody>
                    <a:bodyPr/>
                    <a:lstStyle/>
                    <a:p>
                      <a:pPr algn="l"/>
                      <a:r>
                        <a:rPr sz="1400" b="1">
                          <a:solidFill>
                            <a:srgbClr val="1A1A1A"/>
                          </a:solidFill>
                        </a:rPr>
                        <a:t>City
(upgrade)</a:t>
                      </a:r>
                    </a:p>
                  </a:txBody>
                  <a:tcPr>
                    <a:solidFill>
                      <a:srgbClr val="FFFBF0"/>
                    </a:solidFill>
                  </a:tcPr>
                </a:tc>
                <a:tc>
                  <a:txBody>
                    <a:bodyPr/>
                    <a:lstStyle/>
                    <a:p>
                      <a:pPr algn="l"/>
                      <a:r>
                        <a:rPr sz="1500" b="1">
                          <a:solidFill>
                            <a:srgbClr val="6A6A7A"/>
                          </a:solidFill>
                        </a:rPr>
                        <a:t>●●●</a:t>
                      </a:r>
                      <a:r>
                        <a:rPr sz="1500" b="0">
                          <a:solidFill>
                            <a:srgbClr val="1A1A1A"/>
                          </a:solidFill>
                        </a:rPr>
                        <a:t> Ore  </a:t>
                      </a:r>
                      <a:r>
                        <a:rPr sz="1500" b="1">
                          <a:solidFill>
                            <a:srgbClr val="C09008"/>
                          </a:solidFill>
                        </a:rPr>
                        <a:t>●●</a:t>
                      </a:r>
                      <a:r>
                        <a:rPr sz="1500" b="0">
                          <a:solidFill>
                            <a:srgbClr val="1A1A1A"/>
                          </a:solidFill>
                        </a:rPr>
                        <a:t> Grain</a:t>
                      </a:r>
                    </a:p>
                  </a:txBody>
                  <a:tcPr>
                    <a:solidFill>
                      <a:srgbClr val="FFFBF0"/>
                    </a:solidFill>
                  </a:tcPr>
                </a:tc>
                <a:tc>
                  <a:txBody>
                    <a:bodyPr/>
                    <a:lstStyle/>
                    <a:p>
                      <a:pPr algn="ctr"/>
                      <a:r>
                        <a:rPr sz="1400" b="0">
                          <a:solidFill>
                            <a:srgbClr val="1A1A1A"/>
                          </a:solidFill>
                        </a:rPr>
                        <a:t>+1</a:t>
                      </a:r>
                    </a:p>
                  </a:txBody>
                  <a:tcPr>
                    <a:solidFill>
                      <a:srgbClr val="FFFBF0"/>
                    </a:solidFill>
                  </a:tcPr>
                </a:tc>
                <a:tc>
                  <a:txBody>
                    <a:bodyPr/>
                    <a:lstStyle/>
                    <a:p>
                      <a:pPr algn="l"/>
                      <a:r>
                        <a:rPr sz="1400" b="0">
                          <a:solidFill>
                            <a:srgbClr val="1A1A1A"/>
                          </a:solidFill>
                        </a:rPr>
                        <a:t>Doubles production; primary VP engine</a:t>
                      </a:r>
                    </a:p>
                  </a:txBody>
                  <a:tcPr>
                    <a:solidFill>
                      <a:srgbClr val="FFFBF0"/>
                    </a:solidFill>
                  </a:tcPr>
                </a:tc>
                <a:extLst>
                  <a:ext uri="{0D108BD9-81ED-4DB2-BD59-A6C34878D82A}">
                    <a16:rowId xmlns:a16="http://schemas.microsoft.com/office/drawing/2014/main" val="10003"/>
                  </a:ext>
                </a:extLst>
              </a:tr>
              <a:tr h="731520">
                <a:tc>
                  <a:txBody>
                    <a:bodyPr/>
                    <a:lstStyle/>
                    <a:p>
                      <a:pPr algn="l"/>
                      <a:r>
                        <a:rPr sz="1400" b="1">
                          <a:solidFill>
                            <a:srgbClr val="1A1A1A"/>
                          </a:solidFill>
                        </a:rPr>
                        <a:t>Dev Card</a:t>
                      </a:r>
                    </a:p>
                  </a:txBody>
                  <a:tcPr>
                    <a:solidFill>
                      <a:srgbClr val="E8F0E0"/>
                    </a:solidFill>
                  </a:tcPr>
                </a:tc>
                <a:tc>
                  <a:txBody>
                    <a:bodyPr/>
                    <a:lstStyle/>
                    <a:p>
                      <a:pPr algn="l"/>
                      <a:r>
                        <a:rPr sz="1500" b="1">
                          <a:solidFill>
                            <a:srgbClr val="6A6A7A"/>
                          </a:solidFill>
                        </a:rPr>
                        <a:t>●</a:t>
                      </a:r>
                      <a:r>
                        <a:rPr sz="1500" b="0">
                          <a:solidFill>
                            <a:srgbClr val="1A1A1A"/>
                          </a:solidFill>
                        </a:rPr>
                        <a:t> Ore  </a:t>
                      </a:r>
                      <a:r>
                        <a:rPr sz="1500" b="1">
                          <a:solidFill>
                            <a:srgbClr val="4A9A10"/>
                          </a:solidFill>
                        </a:rPr>
                        <a:t>●</a:t>
                      </a:r>
                      <a:r>
                        <a:rPr sz="1500" b="0">
                          <a:solidFill>
                            <a:srgbClr val="1A1A1A"/>
                          </a:solidFill>
                        </a:rPr>
                        <a:t> Wool  </a:t>
                      </a:r>
                      <a:r>
                        <a:rPr sz="1500" b="1">
                          <a:solidFill>
                            <a:srgbClr val="C09008"/>
                          </a:solidFill>
                        </a:rPr>
                        <a:t>●</a:t>
                      </a:r>
                      <a:r>
                        <a:rPr sz="1500" b="0">
                          <a:solidFill>
                            <a:srgbClr val="1A1A1A"/>
                          </a:solidFill>
                        </a:rPr>
                        <a:t> Grain</a:t>
                      </a:r>
                    </a:p>
                  </a:txBody>
                  <a:tcPr>
                    <a:solidFill>
                      <a:srgbClr val="E8F0E0"/>
                    </a:solidFill>
                  </a:tcPr>
                </a:tc>
                <a:tc>
                  <a:txBody>
                    <a:bodyPr/>
                    <a:lstStyle/>
                    <a:p>
                      <a:pPr algn="ctr"/>
                      <a:r>
                        <a:rPr sz="1400" b="0">
                          <a:solidFill>
                            <a:srgbClr val="1A1A1A"/>
                          </a:solidFill>
                        </a:rPr>
                        <a:t>varies</a:t>
                      </a:r>
                    </a:p>
                  </a:txBody>
                  <a:tcPr>
                    <a:solidFill>
                      <a:srgbClr val="E8F0E0"/>
                    </a:solidFill>
                  </a:tcPr>
                </a:tc>
                <a:tc>
                  <a:txBody>
                    <a:bodyPr/>
                    <a:lstStyle/>
                    <a:p>
                      <a:pPr algn="l"/>
                      <a:r>
                        <a:rPr sz="1400" b="0">
                          <a:solidFill>
                            <a:srgbClr val="1A1A1A"/>
                          </a:solidFill>
                        </a:rPr>
                        <a:t>Knights (Largest Army) or VP cards</a:t>
                      </a:r>
                    </a:p>
                  </a:txBody>
                  <a:tcPr>
                    <a:solidFill>
                      <a:srgbClr val="E8F0E0"/>
                    </a:solidFill>
                  </a:tcPr>
                </a:tc>
                <a:extLst>
                  <a:ext uri="{0D108BD9-81ED-4DB2-BD59-A6C34878D82A}">
                    <a16:rowId xmlns:a16="http://schemas.microsoft.com/office/drawing/2014/main" val="10004"/>
                  </a:ext>
                </a:extLst>
              </a:tr>
              <a:tr h="731520">
                <a:tc>
                  <a:txBody>
                    <a:bodyPr/>
                    <a:lstStyle/>
                    <a:p>
                      <a:pPr algn="l"/>
                      <a:r>
                        <a:rPr sz="1400" b="1">
                          <a:solidFill>
                            <a:srgbClr val="1A1A1A"/>
                          </a:solidFill>
                        </a:rPr>
                        <a:t>Largest Army</a:t>
                      </a:r>
                    </a:p>
                  </a:txBody>
                  <a:tcPr>
                    <a:solidFill>
                      <a:srgbClr val="FFFBF0"/>
                    </a:solidFill>
                  </a:tcPr>
                </a:tc>
                <a:tc>
                  <a:txBody>
                    <a:bodyPr/>
                    <a:lstStyle/>
                    <a:p>
                      <a:pPr algn="l"/>
                      <a:r>
                        <a:rPr sz="1500" b="0">
                          <a:solidFill>
                            <a:srgbClr val="1A1A1A"/>
                          </a:solidFill>
                        </a:rPr>
                        <a:t>3+ Knight cards</a:t>
                      </a:r>
                    </a:p>
                  </a:txBody>
                  <a:tcPr>
                    <a:solidFill>
                      <a:srgbClr val="FFFBF0"/>
                    </a:solidFill>
                  </a:tcPr>
                </a:tc>
                <a:tc>
                  <a:txBody>
                    <a:bodyPr/>
                    <a:lstStyle/>
                    <a:p>
                      <a:pPr algn="ctr"/>
                      <a:r>
                        <a:rPr sz="1400" b="0">
                          <a:solidFill>
                            <a:srgbClr val="1A1A1A"/>
                          </a:solidFill>
                        </a:rPr>
                        <a:t>2</a:t>
                      </a:r>
                    </a:p>
                  </a:txBody>
                  <a:tcPr>
                    <a:solidFill>
                      <a:srgbClr val="FFFBF0"/>
                    </a:solidFill>
                  </a:tcPr>
                </a:tc>
                <a:tc>
                  <a:txBody>
                    <a:bodyPr/>
                    <a:lstStyle/>
                    <a:p>
                      <a:pPr algn="l"/>
                      <a:r>
                        <a:rPr sz="1400" b="0">
                          <a:solidFill>
                            <a:srgbClr val="1A1A1A"/>
                          </a:solidFill>
                        </a:rPr>
                        <a:t>Hold the most knight cards (≥ 3)</a:t>
                      </a:r>
                    </a:p>
                  </a:txBody>
                  <a:tcPr>
                    <a:solidFill>
                      <a:srgbClr val="FFFBF0"/>
                    </a:solidFill>
                  </a:tcPr>
                </a:tc>
                <a:extLst>
                  <a:ext uri="{0D108BD9-81ED-4DB2-BD59-A6C34878D82A}">
                    <a16:rowId xmlns:a16="http://schemas.microsoft.com/office/drawing/2014/main" val="10005"/>
                  </a:ext>
                </a:extLst>
              </a:tr>
              <a:tr h="731520">
                <a:tc>
                  <a:txBody>
                    <a:bodyPr/>
                    <a:lstStyle/>
                    <a:p>
                      <a:pPr algn="l"/>
                      <a:r>
                        <a:rPr sz="1400" b="1">
                          <a:solidFill>
                            <a:srgbClr val="1A1A1A"/>
                          </a:solidFill>
                        </a:rPr>
                        <a:t>Longest Road</a:t>
                      </a:r>
                    </a:p>
                  </a:txBody>
                  <a:tcPr>
                    <a:solidFill>
                      <a:srgbClr val="E8F0E0"/>
                    </a:solidFill>
                  </a:tcPr>
                </a:tc>
                <a:tc>
                  <a:txBody>
                    <a:bodyPr/>
                    <a:lstStyle/>
                    <a:p>
                      <a:pPr algn="l"/>
                      <a:r>
                        <a:rPr sz="1500" b="0">
                          <a:solidFill>
                            <a:srgbClr val="1A1A1A"/>
                          </a:solidFill>
                        </a:rPr>
                        <a:t>5+ continuous road segments</a:t>
                      </a:r>
                    </a:p>
                  </a:txBody>
                  <a:tcPr>
                    <a:solidFill>
                      <a:srgbClr val="E8F0E0"/>
                    </a:solidFill>
                  </a:tcPr>
                </a:tc>
                <a:tc>
                  <a:txBody>
                    <a:bodyPr/>
                    <a:lstStyle/>
                    <a:p>
                      <a:pPr algn="ctr"/>
                      <a:r>
                        <a:rPr sz="1400" b="0">
                          <a:solidFill>
                            <a:srgbClr val="1A1A1A"/>
                          </a:solidFill>
                        </a:rPr>
                        <a:t>2</a:t>
                      </a:r>
                    </a:p>
                  </a:txBody>
                  <a:tcPr>
                    <a:solidFill>
                      <a:srgbClr val="E8F0E0"/>
                    </a:solidFill>
                  </a:tcPr>
                </a:tc>
                <a:tc>
                  <a:txBody>
                    <a:bodyPr/>
                    <a:lstStyle/>
                    <a:p>
                      <a:pPr algn="l"/>
                      <a:r>
                        <a:rPr sz="1400" b="0">
                          <a:solidFill>
                            <a:srgbClr val="1A1A1A"/>
                          </a:solidFill>
                        </a:rPr>
                        <a:t>Early game bonus for road builders</a:t>
                      </a:r>
                    </a:p>
                  </a:txBody>
                  <a:tcPr>
                    <a:solidFill>
                      <a:srgbClr val="E8F0E0"/>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Board Setup &amp; Dice Probabilities</a:t>
            </a:r>
          </a:p>
        </p:txBody>
      </p:sp>
      <p:sp>
        <p:nvSpPr>
          <p:cNvPr id="4" name="Rectangle 3"/>
          <p:cNvSpPr/>
          <p:nvPr/>
        </p:nvSpPr>
        <p:spPr>
          <a:xfrm>
            <a:off x="274320" y="1143000"/>
            <a:ext cx="548640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143000"/>
            <a:ext cx="5486400" cy="45720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1188720"/>
            <a:ext cx="5303520" cy="411480"/>
          </a:xfrm>
          <a:prstGeom prst="rect">
            <a:avLst/>
          </a:prstGeom>
          <a:noFill/>
        </p:spPr>
        <p:txBody>
          <a:bodyPr wrap="square">
            <a:spAutoFit/>
          </a:bodyPr>
          <a:lstStyle/>
          <a:p>
            <a:pPr algn="ctr"/>
            <a:r>
              <a:rPr sz="1600" b="1" i="0">
                <a:solidFill>
                  <a:srgbClr val="FFFBF0"/>
                </a:solidFill>
              </a:rPr>
              <a:t>Terrain Hex Counts</a:t>
            </a:r>
          </a:p>
        </p:txBody>
      </p:sp>
      <p:sp>
        <p:nvSpPr>
          <p:cNvPr id="7" name="TextBox 6"/>
          <p:cNvSpPr txBox="1"/>
          <p:nvPr/>
        </p:nvSpPr>
        <p:spPr>
          <a:xfrm>
            <a:off x="457200" y="1691640"/>
            <a:ext cx="5212080" cy="3139321"/>
          </a:xfrm>
          <a:prstGeom prst="rect">
            <a:avLst/>
          </a:prstGeom>
          <a:noFill/>
        </p:spPr>
        <p:txBody>
          <a:bodyPr wrap="square">
            <a:spAutoFit/>
          </a:bodyPr>
          <a:lstStyle/>
          <a:p>
            <a:r>
              <a:rPr dirty="0">
                <a:solidFill>
                  <a:srgbClr val="1A1A1A"/>
                </a:solidFill>
              </a:rPr>
              <a:t>19 hexes total:</a:t>
            </a:r>
          </a:p>
          <a:p>
            <a:endParaRPr dirty="0">
              <a:solidFill>
                <a:srgbClr val="1A1A1A"/>
              </a:solidFill>
            </a:endParaRPr>
          </a:p>
          <a:p>
            <a:r>
              <a:rPr dirty="0">
                <a:solidFill>
                  <a:srgbClr val="1A1A1A"/>
                </a:solidFill>
              </a:rPr>
              <a:t>▸  Forest (Lumber)   — 4 hexes</a:t>
            </a:r>
          </a:p>
          <a:p>
            <a:r>
              <a:rPr dirty="0">
                <a:solidFill>
                  <a:srgbClr val="1A1A1A"/>
                </a:solidFill>
              </a:rPr>
              <a:t>▸  Pasture (Wool)    — 4 hexes</a:t>
            </a:r>
          </a:p>
          <a:p>
            <a:r>
              <a:rPr dirty="0">
                <a:solidFill>
                  <a:srgbClr val="1A1A1A"/>
                </a:solidFill>
              </a:rPr>
              <a:t>▸  Fields (Grain)    — 4 hexes</a:t>
            </a:r>
          </a:p>
          <a:p>
            <a:r>
              <a:rPr dirty="0">
                <a:solidFill>
                  <a:srgbClr val="1A1A1A"/>
                </a:solidFill>
              </a:rPr>
              <a:t>▸  Hills (Brick)     — 3 hexes</a:t>
            </a:r>
          </a:p>
          <a:p>
            <a:r>
              <a:rPr dirty="0">
                <a:solidFill>
                  <a:srgbClr val="1A1A1A"/>
                </a:solidFill>
              </a:rPr>
              <a:t>▸  Mountains (Ore)   — 3 hexe</a:t>
            </a:r>
            <a:r>
              <a:rPr lang="en-US" dirty="0">
                <a:solidFill>
                  <a:srgbClr val="1A1A1A"/>
                </a:solidFill>
              </a:rPr>
              <a:t>s</a:t>
            </a:r>
            <a:endParaRPr dirty="0">
              <a:solidFill>
                <a:srgbClr val="1A1A1A"/>
              </a:solidFill>
            </a:endParaRPr>
          </a:p>
          <a:p>
            <a:r>
              <a:rPr dirty="0">
                <a:solidFill>
                  <a:srgbClr val="1A1A1A"/>
                </a:solidFill>
              </a:rPr>
              <a:t>▸  Desert            — 1 hex</a:t>
            </a:r>
          </a:p>
          <a:p>
            <a:endParaRPr dirty="0">
              <a:solidFill>
                <a:srgbClr val="1A1A1A"/>
              </a:solidFill>
            </a:endParaRPr>
          </a:p>
          <a:p>
            <a:r>
              <a:rPr dirty="0">
                <a:solidFill>
                  <a:srgbClr val="1A1A1A"/>
                </a:solidFill>
              </a:rPr>
              <a:t>9 ports around the coast:</a:t>
            </a:r>
          </a:p>
          <a:p>
            <a:r>
              <a:rPr dirty="0">
                <a:solidFill>
                  <a:srgbClr val="1A1A1A"/>
                </a:solidFill>
              </a:rPr>
              <a:t>  4 × General (3:1)  |  5 × Specific (2:1)</a:t>
            </a:r>
          </a:p>
        </p:txBody>
      </p:sp>
      <p:sp>
        <p:nvSpPr>
          <p:cNvPr id="8" name="Rectangle 7"/>
          <p:cNvSpPr/>
          <p:nvPr/>
        </p:nvSpPr>
        <p:spPr>
          <a:xfrm>
            <a:off x="6080760" y="1143000"/>
            <a:ext cx="548640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080760" y="1143000"/>
            <a:ext cx="5486400" cy="45720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72200" y="1188720"/>
            <a:ext cx="5303520" cy="411480"/>
          </a:xfrm>
          <a:prstGeom prst="rect">
            <a:avLst/>
          </a:prstGeom>
          <a:noFill/>
        </p:spPr>
        <p:txBody>
          <a:bodyPr wrap="square">
            <a:spAutoFit/>
          </a:bodyPr>
          <a:lstStyle/>
          <a:p>
            <a:pPr algn="ctr"/>
            <a:r>
              <a:rPr sz="1600" b="1" i="0">
                <a:solidFill>
                  <a:srgbClr val="FFFBF0"/>
                </a:solidFill>
              </a:rPr>
              <a:t>Number Token Probabilities</a:t>
            </a:r>
          </a:p>
        </p:txBody>
      </p:sp>
      <p:sp>
        <p:nvSpPr>
          <p:cNvPr id="11" name="TextBox 10"/>
          <p:cNvSpPr txBox="1"/>
          <p:nvPr/>
        </p:nvSpPr>
        <p:spPr>
          <a:xfrm>
            <a:off x="6263640" y="1691640"/>
            <a:ext cx="5212080" cy="3693319"/>
          </a:xfrm>
          <a:prstGeom prst="rect">
            <a:avLst/>
          </a:prstGeom>
          <a:noFill/>
        </p:spPr>
        <p:txBody>
          <a:bodyPr wrap="square">
            <a:spAutoFit/>
          </a:bodyPr>
          <a:lstStyle/>
          <a:p>
            <a:r>
              <a:rPr dirty="0">
                <a:solidFill>
                  <a:srgbClr val="1A1A1A"/>
                </a:solidFill>
              </a:rPr>
              <a:t>Token  Pips  Probability</a:t>
            </a:r>
          </a:p>
          <a:p>
            <a:r>
              <a:rPr dirty="0">
                <a:solidFill>
                  <a:srgbClr val="1A1A1A"/>
                </a:solidFill>
              </a:rPr>
              <a:t>─────────────────────────</a:t>
            </a:r>
          </a:p>
          <a:p>
            <a:r>
              <a:rPr dirty="0">
                <a:solidFill>
                  <a:srgbClr val="1A1A1A"/>
                </a:solidFill>
              </a:rPr>
              <a:t>  6      5      5/36  ←  best</a:t>
            </a:r>
          </a:p>
          <a:p>
            <a:r>
              <a:rPr dirty="0">
                <a:solidFill>
                  <a:srgbClr val="1A1A1A"/>
                </a:solidFill>
              </a:rPr>
              <a:t>  8      5      5/36  ←  best</a:t>
            </a:r>
          </a:p>
          <a:p>
            <a:r>
              <a:rPr dirty="0">
                <a:solidFill>
                  <a:srgbClr val="1A1A1A"/>
                </a:solidFill>
              </a:rPr>
              <a:t>  5      4      4/36</a:t>
            </a:r>
          </a:p>
          <a:p>
            <a:r>
              <a:rPr dirty="0">
                <a:solidFill>
                  <a:srgbClr val="1A1A1A"/>
                </a:solidFill>
              </a:rPr>
              <a:t>  9      4      4/36</a:t>
            </a:r>
          </a:p>
          <a:p>
            <a:r>
              <a:rPr dirty="0">
                <a:solidFill>
                  <a:srgbClr val="1A1A1A"/>
                </a:solidFill>
              </a:rPr>
              <a:t>  4      3      3/36</a:t>
            </a:r>
          </a:p>
          <a:p>
            <a:r>
              <a:rPr dirty="0">
                <a:solidFill>
                  <a:srgbClr val="1A1A1A"/>
                </a:solidFill>
              </a:rPr>
              <a:t> 10      3      3/36</a:t>
            </a:r>
          </a:p>
          <a:p>
            <a:r>
              <a:rPr dirty="0">
                <a:solidFill>
                  <a:srgbClr val="1A1A1A"/>
                </a:solidFill>
              </a:rPr>
              <a:t>  3      2      2/36</a:t>
            </a:r>
          </a:p>
          <a:p>
            <a:r>
              <a:rPr dirty="0">
                <a:solidFill>
                  <a:srgbClr val="1A1A1A"/>
                </a:solidFill>
              </a:rPr>
              <a:t> 11      2      2/36</a:t>
            </a:r>
          </a:p>
          <a:p>
            <a:r>
              <a:rPr dirty="0">
                <a:solidFill>
                  <a:srgbClr val="1A1A1A"/>
                </a:solidFill>
              </a:rPr>
              <a:t>  2      1      1/36</a:t>
            </a:r>
          </a:p>
          <a:p>
            <a:r>
              <a:rPr dirty="0">
                <a:solidFill>
                  <a:srgbClr val="1A1A1A"/>
                </a:solidFill>
              </a:rPr>
              <a:t> 12      1      1/36</a:t>
            </a:r>
          </a:p>
          <a:p>
            <a:r>
              <a:rPr dirty="0">
                <a:solidFill>
                  <a:srgbClr val="1A1A1A"/>
                </a:solidFill>
              </a:rPr>
              <a:t>  7   (robber — not a token)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2BE59-BAD0-1644-ABC2-CC3EF78C95D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342F9E5-9F10-24D8-2A40-519427B743AC}"/>
              </a:ext>
            </a:extLst>
          </p:cNvPr>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06086896-3623-5DF5-C4C5-6BF0A216760B}"/>
              </a:ext>
            </a:extLst>
          </p:cNvPr>
          <p:cNvSpPr txBox="1"/>
          <p:nvPr/>
        </p:nvSpPr>
        <p:spPr>
          <a:xfrm>
            <a:off x="365760" y="109728"/>
            <a:ext cx="11430000" cy="584775"/>
          </a:xfrm>
          <a:prstGeom prst="rect">
            <a:avLst/>
          </a:prstGeom>
          <a:noFill/>
        </p:spPr>
        <p:txBody>
          <a:bodyPr wrap="square">
            <a:spAutoFit/>
          </a:bodyPr>
          <a:lstStyle/>
          <a:p>
            <a:pPr algn="l"/>
            <a:r>
              <a:rPr lang="en-US" sz="3200" b="1" dirty="0">
                <a:solidFill>
                  <a:srgbClr val="FFFBF0"/>
                </a:solidFill>
              </a:rPr>
              <a:t>4</a:t>
            </a:r>
            <a:r>
              <a:rPr lang="en-US" sz="3200" b="1" i="0" dirty="0">
                <a:solidFill>
                  <a:srgbClr val="FFFBF0"/>
                </a:solidFill>
              </a:rPr>
              <a:t> Key Strategy Components</a:t>
            </a:r>
            <a:endParaRPr sz="3200" b="1" i="0" dirty="0">
              <a:solidFill>
                <a:srgbClr val="FFFBF0"/>
              </a:solidFill>
            </a:endParaRPr>
          </a:p>
        </p:txBody>
      </p:sp>
      <p:sp>
        <p:nvSpPr>
          <p:cNvPr id="4" name="Rectangle 3">
            <a:extLst>
              <a:ext uri="{FF2B5EF4-FFF2-40B4-BE49-F238E27FC236}">
                <a16:creationId xmlns:a16="http://schemas.microsoft.com/office/drawing/2014/main" id="{88BA50EE-D776-B75A-639B-DD891FAB6AD1}"/>
              </a:ext>
            </a:extLst>
          </p:cNvPr>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a:extLst>
              <a:ext uri="{FF2B5EF4-FFF2-40B4-BE49-F238E27FC236}">
                <a16:creationId xmlns:a16="http://schemas.microsoft.com/office/drawing/2014/main" id="{084A367A-D0DC-1FA8-3C78-51B4D5CC7AA7}"/>
              </a:ext>
            </a:extLst>
          </p:cNvPr>
          <p:cNvSpPr txBox="1"/>
          <p:nvPr/>
        </p:nvSpPr>
        <p:spPr>
          <a:xfrm>
            <a:off x="502920" y="1280160"/>
            <a:ext cx="11155680" cy="3108543"/>
          </a:xfrm>
          <a:prstGeom prst="rect">
            <a:avLst/>
          </a:prstGeom>
          <a:noFill/>
        </p:spPr>
        <p:txBody>
          <a:bodyPr wrap="square">
            <a:spAutoFit/>
          </a:bodyPr>
          <a:lstStyle/>
          <a:p>
            <a:pPr marL="342900" indent="-342900">
              <a:buFont typeface="Arial" panose="020B0604020202020204" pitchFamily="34" charset="0"/>
              <a:buChar char="•"/>
            </a:pPr>
            <a:r>
              <a:rPr lang="en-US" sz="2400" b="1" dirty="0">
                <a:solidFill>
                  <a:srgbClr val="1A3D1A"/>
                </a:solidFill>
              </a:rPr>
              <a:t>Initial placement</a:t>
            </a:r>
          </a:p>
          <a:p>
            <a:pPr marL="800100" lvl="1" indent="-342900">
              <a:buFont typeface="Arial" panose="020B0604020202020204" pitchFamily="34" charset="0"/>
              <a:buChar char="•"/>
            </a:pPr>
            <a:r>
              <a:rPr lang="en-US" sz="2000" dirty="0"/>
              <a:t>Where do you put your first settlement?</a:t>
            </a:r>
          </a:p>
          <a:p>
            <a:pPr marL="342900" indent="-342900">
              <a:buFont typeface="Arial" panose="020B0604020202020204" pitchFamily="34" charset="0"/>
              <a:buChar char="•"/>
            </a:pPr>
            <a:r>
              <a:rPr lang="en-US" sz="2400" b="1" dirty="0">
                <a:solidFill>
                  <a:srgbClr val="1A3D1A"/>
                </a:solidFill>
              </a:rPr>
              <a:t>Second placement</a:t>
            </a:r>
          </a:p>
          <a:p>
            <a:pPr marL="800100" lvl="1" indent="-342900">
              <a:buFont typeface="Arial" panose="020B0604020202020204" pitchFamily="34" charset="0"/>
              <a:buChar char="•"/>
            </a:pPr>
            <a:r>
              <a:rPr lang="en-US" sz="2000" dirty="0"/>
              <a:t>Where do you put your second settlement?</a:t>
            </a:r>
          </a:p>
          <a:p>
            <a:pPr marL="342900" indent="-342900">
              <a:buFont typeface="Arial" panose="020B0604020202020204" pitchFamily="34" charset="0"/>
              <a:buChar char="•"/>
            </a:pPr>
            <a:r>
              <a:rPr lang="en-US" sz="2400" b="1" dirty="0">
                <a:solidFill>
                  <a:srgbClr val="1A3D1A"/>
                </a:solidFill>
              </a:rPr>
              <a:t>Road Priority</a:t>
            </a:r>
          </a:p>
          <a:p>
            <a:pPr marL="800100" lvl="1" indent="-342900">
              <a:buFont typeface="Arial" panose="020B0604020202020204" pitchFamily="34" charset="0"/>
              <a:buChar char="•"/>
            </a:pPr>
            <a:r>
              <a:rPr lang="en-US" sz="2000" dirty="0"/>
              <a:t>Which direction should we go towards with roads?</a:t>
            </a:r>
          </a:p>
          <a:p>
            <a:pPr marL="342900" indent="-342900">
              <a:buFont typeface="Arial" panose="020B0604020202020204" pitchFamily="34" charset="0"/>
              <a:buChar char="•"/>
            </a:pPr>
            <a:r>
              <a:rPr lang="en-US" sz="2400" b="1" dirty="0">
                <a:solidFill>
                  <a:srgbClr val="1A3D1A"/>
                </a:solidFill>
              </a:rPr>
              <a:t>Build priority</a:t>
            </a:r>
          </a:p>
          <a:p>
            <a:pPr marL="800100" lvl="1" indent="-342900">
              <a:buFont typeface="Arial" panose="020B0604020202020204" pitchFamily="34" charset="0"/>
              <a:buChar char="•"/>
            </a:pPr>
            <a:r>
              <a:rPr lang="en-US" sz="2000" dirty="0"/>
              <a:t>What should our building priority be?</a:t>
            </a:r>
          </a:p>
          <a:p>
            <a:pPr marL="800100" lvl="1" indent="-342900">
              <a:buFont typeface="Arial" panose="020B0604020202020204" pitchFamily="34" charset="0"/>
              <a:buChar char="•"/>
            </a:pPr>
            <a:r>
              <a:rPr lang="en-US" sz="2000" dirty="0"/>
              <a:t>Dev cards, cities, settlements, roads</a:t>
            </a:r>
            <a:endParaRPr sz="2000" dirty="0"/>
          </a:p>
        </p:txBody>
      </p:sp>
    </p:spTree>
    <p:extLst>
      <p:ext uri="{BB962C8B-B14F-4D97-AF65-F5344CB8AC3E}">
        <p14:creationId xmlns:p14="http://schemas.microsoft.com/office/powerpoint/2010/main" val="17009703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dirty="0">
                <a:solidFill>
                  <a:srgbClr val="FFFBF0"/>
                </a:solidFill>
              </a:rPr>
              <a:t>The Three Competing Strategies</a:t>
            </a:r>
          </a:p>
        </p:txBody>
      </p:sp>
      <p:graphicFrame>
        <p:nvGraphicFramePr>
          <p:cNvPr id="4" name="Table 3"/>
          <p:cNvGraphicFramePr>
            <a:graphicFrameLocks noGrp="1"/>
          </p:cNvGraphicFramePr>
          <p:nvPr/>
        </p:nvGraphicFramePr>
        <p:xfrm>
          <a:off x="365760" y="1188720"/>
          <a:ext cx="11155680" cy="530352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1280160">
                <a:tc>
                  <a:txBody>
                    <a:bodyPr/>
                    <a:lstStyle/>
                    <a:p>
                      <a:pPr algn="ctr"/>
                      <a:r>
                        <a:rPr sz="2000" b="1">
                          <a:solidFill>
                            <a:srgbClr val="FFFBF0"/>
                          </a:solidFill>
                        </a:rPr>
                        <a:t>Strategy</a:t>
                      </a:r>
                    </a:p>
                  </a:txBody>
                  <a:tcPr>
                    <a:solidFill>
                      <a:srgbClr val="1A3D1A"/>
                    </a:solidFill>
                  </a:tcPr>
                </a:tc>
                <a:tc>
                  <a:txBody>
                    <a:bodyPr/>
                    <a:lstStyle/>
                    <a:p>
                      <a:pPr algn="ctr"/>
                      <a:r>
                        <a:rPr sz="2000" b="1">
                          <a:solidFill>
                            <a:srgbClr val="FFFBF0"/>
                          </a:solidFill>
                        </a:rPr>
                        <a:t>Initial Placement</a:t>
                      </a:r>
                    </a:p>
                  </a:txBody>
                  <a:tcPr>
                    <a:solidFill>
                      <a:srgbClr val="1A3D1A"/>
                    </a:solidFill>
                  </a:tcPr>
                </a:tc>
                <a:tc>
                  <a:txBody>
                    <a:bodyPr/>
                    <a:lstStyle/>
                    <a:p>
                      <a:pPr algn="ctr"/>
                      <a:r>
                        <a:rPr sz="2000" b="1">
                          <a:solidFill>
                            <a:srgbClr val="FFFBF0"/>
                          </a:solidFill>
                        </a:rPr>
                        <a:t>Road Priority</a:t>
                      </a:r>
                    </a:p>
                  </a:txBody>
                  <a:tcPr>
                    <a:solidFill>
                      <a:srgbClr val="1A3D1A"/>
                    </a:solidFill>
                  </a:tcPr>
                </a:tc>
                <a:tc>
                  <a:txBody>
                    <a:bodyPr/>
                    <a:lstStyle/>
                    <a:p>
                      <a:pPr algn="ctr"/>
                      <a:r>
                        <a:rPr sz="2000" b="1">
                          <a:solidFill>
                            <a:srgbClr val="FFFBF0"/>
                          </a:solidFill>
                        </a:rPr>
                        <a:t>Build Priority</a:t>
                      </a:r>
                    </a:p>
                  </a:txBody>
                  <a:tcPr>
                    <a:solidFill>
                      <a:srgbClr val="1A3D1A"/>
                    </a:solidFill>
                  </a:tcPr>
                </a:tc>
                <a:extLst>
                  <a:ext uri="{0D108BD9-81ED-4DB2-BD59-A6C34878D82A}">
                    <a16:rowId xmlns:a16="http://schemas.microsoft.com/office/drawing/2014/main" val="10000"/>
                  </a:ext>
                </a:extLst>
              </a:tr>
              <a:tr h="1280160">
                <a:tc>
                  <a:txBody>
                    <a:bodyPr/>
                    <a:lstStyle/>
                    <a:p>
                      <a:pPr algn="l"/>
                      <a:r>
                        <a:rPr sz="1800" b="1" dirty="0"/>
                        <a:t>balanced</a:t>
                      </a:r>
                    </a:p>
                  </a:txBody>
                  <a:tcPr>
                    <a:solidFill>
                      <a:srgbClr val="FFFBF0"/>
                    </a:solidFill>
                  </a:tcPr>
                </a:tc>
                <a:tc>
                  <a:txBody>
                    <a:bodyPr/>
                    <a:lstStyle/>
                    <a:p>
                      <a:pPr algn="l"/>
                      <a:r>
                        <a:rPr sz="1800" b="0" dirty="0" err="1"/>
                        <a:t>pip_sum</a:t>
                      </a:r>
                      <a:r>
                        <a:rPr sz="1800" b="0" dirty="0"/>
                        <a:t> + 1×distinct_resources
(both picks use same formula; diversity naturally avoids duplication)</a:t>
                      </a:r>
                    </a:p>
                  </a:txBody>
                  <a:tcPr>
                    <a:solidFill>
                      <a:srgbClr val="FFFBF0"/>
                    </a:solidFill>
                  </a:tcPr>
                </a:tc>
                <a:tc>
                  <a:txBody>
                    <a:bodyPr/>
                    <a:lstStyle/>
                    <a:p>
                      <a:pPr algn="l"/>
                      <a:r>
                        <a:rPr sz="1800" b="0"/>
                        <a:t>Routes to highest-diversity open intersection; road built only when it opens a new settlement spot</a:t>
                      </a:r>
                    </a:p>
                  </a:txBody>
                  <a:tcPr>
                    <a:solidFill>
                      <a:srgbClr val="FFFBF0"/>
                    </a:solidFill>
                  </a:tcPr>
                </a:tc>
                <a:tc>
                  <a:txBody>
                    <a:bodyPr/>
                    <a:lstStyle/>
                    <a:p>
                      <a:pPr algn="l"/>
                      <a:r>
                        <a:rPr sz="1800" b="0"/>
                        <a:t>City → Settlement → Dev card → Road
Flexible; city is top priority throughout</a:t>
                      </a:r>
                    </a:p>
                  </a:txBody>
                  <a:tcPr>
                    <a:solidFill>
                      <a:srgbClr val="FFFBF0"/>
                    </a:solidFill>
                  </a:tcPr>
                </a:tc>
                <a:extLst>
                  <a:ext uri="{0D108BD9-81ED-4DB2-BD59-A6C34878D82A}">
                    <a16:rowId xmlns:a16="http://schemas.microsoft.com/office/drawing/2014/main" val="10001"/>
                  </a:ext>
                </a:extLst>
              </a:tr>
              <a:tr h="1280160">
                <a:tc>
                  <a:txBody>
                    <a:bodyPr/>
                    <a:lstStyle/>
                    <a:p>
                      <a:pPr algn="l"/>
                      <a:r>
                        <a:rPr sz="1800" b="1"/>
                        <a:t>sheep</a:t>
                      </a:r>
                    </a:p>
                  </a:txBody>
                  <a:tcPr>
                    <a:solidFill>
                      <a:srgbClr val="E8F0E0"/>
                    </a:solidFill>
                  </a:tcPr>
                </a:tc>
                <a:tc>
                  <a:txBody>
                    <a:bodyPr/>
                    <a:lstStyle/>
                    <a:p>
                      <a:pPr algn="l"/>
                      <a:r>
                        <a:rPr sz="1800" b="0"/>
                        <a:t>wool_pips×2 + total_pips×0.5
2nd pick: infra guard (ensure lumber/brick) + Wool port bonus (+100)</a:t>
                      </a:r>
                    </a:p>
                  </a:txBody>
                  <a:tcPr>
                    <a:solidFill>
                      <a:srgbClr val="E8F0E0"/>
                    </a:solidFill>
                  </a:tcPr>
                </a:tc>
                <a:tc>
                  <a:txBody>
                    <a:bodyPr/>
                    <a:lstStyle/>
                    <a:p>
                      <a:pPr algn="l"/>
                      <a:r>
                        <a:rPr sz="1800" b="0"/>
                        <a:t>Routes to 2:1 Wool port until secured;
then best remaining wool spot</a:t>
                      </a:r>
                    </a:p>
                  </a:txBody>
                  <a:tcPr>
                    <a:solidFill>
                      <a:srgbClr val="E8F0E0"/>
                    </a:solidFill>
                  </a:tcPr>
                </a:tc>
                <a:tc>
                  <a:txBody>
                    <a:bodyPr/>
                    <a:lstStyle/>
                    <a:p>
                      <a:pPr algn="l"/>
                      <a:r>
                        <a:rPr sz="1800" b="0"/>
                        <a:t>Dev card → Settlement → City → Road
Bets on Largest Army VP; city deliberately deprioritised</a:t>
                      </a:r>
                    </a:p>
                  </a:txBody>
                  <a:tcPr>
                    <a:solidFill>
                      <a:srgbClr val="E8F0E0"/>
                    </a:solidFill>
                  </a:tcPr>
                </a:tc>
                <a:extLst>
                  <a:ext uri="{0D108BD9-81ED-4DB2-BD59-A6C34878D82A}">
                    <a16:rowId xmlns:a16="http://schemas.microsoft.com/office/drawing/2014/main" val="10002"/>
                  </a:ext>
                </a:extLst>
              </a:tr>
              <a:tr h="1280160">
                <a:tc>
                  <a:txBody>
                    <a:bodyPr/>
                    <a:lstStyle/>
                    <a:p>
                      <a:pPr algn="l"/>
                      <a:r>
                        <a:rPr sz="1800" b="1"/>
                        <a:t>ore_grain</a:t>
                      </a:r>
                    </a:p>
                  </a:txBody>
                  <a:tcPr>
                    <a:solidFill>
                      <a:srgbClr val="FFFBF0"/>
                    </a:solidFill>
                  </a:tcPr>
                </a:tc>
                <a:tc>
                  <a:txBody>
                    <a:bodyPr/>
                    <a:lstStyle/>
                    <a:p>
                      <a:pPr algn="l"/>
                      <a:r>
                        <a:rPr sz="1800" b="0"/>
                        <a:t>(ore+grain)_pips×2 + total_pips×0.5
2nd pick: infra guard + Ore/Grain port bonus (+50)</a:t>
                      </a:r>
                    </a:p>
                  </a:txBody>
                  <a:tcPr>
                    <a:solidFill>
                      <a:srgbClr val="FFFBF0"/>
                    </a:solidFill>
                  </a:tcPr>
                </a:tc>
                <a:tc>
                  <a:txBody>
                    <a:bodyPr/>
                    <a:lstStyle/>
                    <a:p>
                      <a:pPr algn="l"/>
                      <a:r>
                        <a:rPr sz="1800" b="0"/>
                        <a:t>Routes to 2:1 Ore or Grain port until secured;
then best ore+grain spot</a:t>
                      </a:r>
                    </a:p>
                  </a:txBody>
                  <a:tcPr>
                    <a:solidFill>
                      <a:srgbClr val="FFFBF0"/>
                    </a:solidFill>
                  </a:tcPr>
                </a:tc>
                <a:tc>
                  <a:txBody>
                    <a:bodyPr/>
                    <a:lstStyle/>
                    <a:p>
                      <a:pPr algn="l"/>
                      <a:r>
                        <a:rPr sz="1800" b="0" dirty="0"/>
                        <a:t>City → Settlement (capped at 4) → Dev card → Road
City upgrades are the entire strategy</a:t>
                      </a:r>
                    </a:p>
                  </a:txBody>
                  <a:tcPr>
                    <a:solidFill>
                      <a:srgbClr val="FFFBF0"/>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BB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The Hypothesis: Why Sheep Loses</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280160"/>
            <a:ext cx="11155680" cy="5120640"/>
          </a:xfrm>
          <a:prstGeom prst="rect">
            <a:avLst/>
          </a:prstGeom>
          <a:noFill/>
        </p:spPr>
        <p:txBody>
          <a:bodyPr wrap="square">
            <a:spAutoFit/>
          </a:bodyPr>
          <a:lstStyle/>
          <a:p>
            <a:r>
              <a:rPr sz="2000" b="1">
                <a:solidFill>
                  <a:srgbClr val="1A3D1A"/>
                </a:solidFill>
              </a:rPr>
              <a:t>▸  Wool is structurally the weakest late-game resource</a:t>
            </a:r>
          </a:p>
          <a:p>
            <a:pPr lvl="1"/>
            <a:r>
              <a:rPr sz="1700" b="0">
                <a:solidFill>
                  <a:srgbClr val="1A1A1A"/>
                </a:solidFill>
              </a:rPr>
              <a:t>     •  Needed for settlements &amp; dev cards — but NOT cities</a:t>
            </a:r>
          </a:p>
          <a:p>
            <a:pPr lvl="1"/>
            <a:r>
              <a:rPr sz="1700" b="0">
                <a:solidFill>
                  <a:srgbClr val="1A1A1A"/>
                </a:solidFill>
              </a:rPr>
              <a:t>     •  Cities (3 Ore + 2 Grain) are the primary VP-scaling mechanism</a:t>
            </a:r>
          </a:p>
          <a:p>
            <a:r>
              <a:rPr sz="2000" b="1">
                <a:solidFill>
                  <a:srgbClr val="1A3D1A"/>
                </a:solidFill>
              </a:rPr>
              <a:t>▸  Wool is the most abundant resource on the board</a:t>
            </a:r>
          </a:p>
          <a:p>
            <a:pPr lvl="1"/>
            <a:r>
              <a:rPr sz="1700" b="0">
                <a:solidFill>
                  <a:srgbClr val="1A1A1A"/>
                </a:solidFill>
              </a:rPr>
              <a:t>     •  4 Pasture hexes vs. only 3 Mountains and 3 Hills</a:t>
            </a:r>
          </a:p>
          <a:p>
            <a:pPr lvl="1"/>
            <a:r>
              <a:rPr sz="1700" b="0">
                <a:solidFill>
                  <a:srgbClr val="1A1A1A"/>
                </a:solidFill>
              </a:rPr>
              <a:t>     •  Opponents naturally produce plenty of wool — the 2:1 port is less of an edge than 2:1 Ore or 2:1 Grain</a:t>
            </a:r>
          </a:p>
          <a:p>
            <a:r>
              <a:rPr sz="2000" b="1">
                <a:solidFill>
                  <a:srgbClr val="1A3D1A"/>
                </a:solidFill>
              </a:rPr>
              <a:t>▸  Placement trade-off hurts city-building</a:t>
            </a:r>
          </a:p>
          <a:p>
            <a:pPr lvl="1"/>
            <a:r>
              <a:rPr sz="1700" b="0">
                <a:solidFill>
                  <a:srgbClr val="1A1A1A"/>
                </a:solidFill>
              </a:rPr>
              <a:t>     •  Prioritising wool hexes means sacrificing better ore/grain spots</a:t>
            </a:r>
          </a:p>
          <a:p>
            <a:pPr lvl="1"/>
            <a:r>
              <a:rPr sz="1700" b="0">
                <a:solidFill>
                  <a:srgbClr val="1A1A1A"/>
                </a:solidFill>
              </a:rPr>
              <a:t>     •  A wool surplus with no matching ore/grain cannot efficiently convert to VP</a:t>
            </a:r>
          </a:p>
          <a:p>
            <a:r>
              <a:rPr sz="2000" b="1">
                <a:solidFill>
                  <a:srgbClr val="1A3D1A"/>
                </a:solidFill>
              </a:rPr>
              <a:t>▸  Success criterion: sheep win rate significantly lower than balanced (p &lt; 0.05)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Architecture: 7 R Modules</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280160"/>
            <a:ext cx="11155680" cy="5120640"/>
          </a:xfrm>
          <a:prstGeom prst="rect">
            <a:avLst/>
          </a:prstGeom>
          <a:noFill/>
        </p:spPr>
        <p:txBody>
          <a:bodyPr wrap="square">
            <a:spAutoFit/>
          </a:bodyPr>
          <a:lstStyle/>
          <a:p>
            <a:r>
              <a:rPr sz="2000" b="1">
                <a:solidFill>
                  <a:srgbClr val="1A3D1A"/>
                </a:solidFill>
              </a:rPr>
              <a:t>▸  board.R — Hex graph, board generation, ports</a:t>
            </a:r>
          </a:p>
          <a:p>
            <a:pPr lvl="1"/>
            <a:r>
              <a:rPr sz="1700" b="0">
                <a:solidFill>
                  <a:srgbClr val="1A1A1A"/>
                </a:solidFill>
              </a:rPr>
              <a:t>     •  19 hexes · 54 intersections · 72 road edges · axial coordinate layout</a:t>
            </a:r>
          </a:p>
          <a:p>
            <a:pPr lvl="1"/>
            <a:r>
              <a:rPr sz="1700" b="0">
                <a:solidFill>
                  <a:srgbClr val="1A1A1A"/>
                </a:solidFill>
              </a:rPr>
              <a:t>     •  generate_board() supports random terrain, tokens, and ports</a:t>
            </a:r>
          </a:p>
          <a:p>
            <a:r>
              <a:rPr sz="2000" b="1">
                <a:solidFill>
                  <a:srgbClr val="1A3D1A"/>
                </a:solidFill>
              </a:rPr>
              <a:t>▸  player.R — Player state and resource management</a:t>
            </a:r>
          </a:p>
          <a:p>
            <a:pPr lvl="1"/>
            <a:r>
              <a:rPr sz="1700" b="0">
                <a:solidFill>
                  <a:srgbClr val="1A1A1A"/>
                </a:solidFill>
              </a:rPr>
              <a:t>     •  Resource cards, settlements, cities, roads, dev cards, VP</a:t>
            </a:r>
          </a:p>
          <a:p>
            <a:pPr lvl="1"/>
            <a:r>
              <a:rPr sz="1700" b="0">
                <a:solidFill>
                  <a:srgbClr val="1A1A1A"/>
                </a:solidFill>
              </a:rPr>
              <a:t>     •  can_build() / do_build() / do_trade() helpers; 7-card discard rule</a:t>
            </a:r>
          </a:p>
          <a:p>
            <a:r>
              <a:rPr sz="2000" b="1">
                <a:solidFill>
                  <a:srgbClr val="1A3D1A"/>
                </a:solidFill>
              </a:rPr>
              <a:t>▸  strategy.R — Strategy interface + implementations</a:t>
            </a:r>
          </a:p>
          <a:p>
            <a:pPr lvl="1"/>
            <a:r>
              <a:rPr sz="1700" b="0">
                <a:solidFill>
                  <a:srgbClr val="1A1A1A"/>
                </a:solidFill>
              </a:rPr>
              <a:t>     •  Each strategy is a named list of functions: choose_initial_placement, choose_second_placement, choose_road_placement, choose_action</a:t>
            </a:r>
          </a:p>
          <a:p>
            <a:r>
              <a:rPr sz="2000" b="1">
                <a:solidFill>
                  <a:srgbClr val="1A3D1A"/>
                </a:solidFill>
              </a:rPr>
              <a:t>▸  game.R — Single game loop (reverse snake draft → turns → win check)</a:t>
            </a:r>
          </a:p>
          <a:p>
            <a:r>
              <a:rPr sz="2000" b="1">
                <a:solidFill>
                  <a:srgbClr val="1A3D1A"/>
                </a:solidFill>
              </a:rPr>
              <a:t>▸  simulation.R — Monte Carlo runner: run_simulation(n_games, strategies, seed)</a:t>
            </a:r>
          </a:p>
          <a:p>
            <a:r>
              <a:rPr sz="2000" b="1">
                <a:solidFill>
                  <a:srgbClr val="1A3D1A"/>
                </a:solidFill>
              </a:rPr>
              <a:t>▸  analysis.R — ggplot2 charts + chi-squared significance test
▸  visualize_board.R — Board &amp; game-state rendering (plot_board, plot_game_state)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Game Loop (game.R)</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280160"/>
            <a:ext cx="11155680" cy="5120640"/>
          </a:xfrm>
          <a:prstGeom prst="rect">
            <a:avLst/>
          </a:prstGeom>
          <a:noFill/>
        </p:spPr>
        <p:txBody>
          <a:bodyPr wrap="square">
            <a:spAutoFit/>
          </a:bodyPr>
          <a:lstStyle/>
          <a:p>
            <a:r>
              <a:rPr sz="2000" b="1">
                <a:solidFill>
                  <a:srgbClr val="1A3D1A"/>
                </a:solidFill>
              </a:rPr>
              <a:t>▸  Initial placement — reverse snake draft</a:t>
            </a:r>
          </a:p>
          <a:p>
            <a:pPr lvl="1"/>
            <a:r>
              <a:rPr sz="1700" b="0">
                <a:solidFill>
                  <a:srgbClr val="1A1A1A"/>
                </a:solidFill>
              </a:rPr>
              <a:t>     •  P1 → P2 → P3 → P4 → P4 → P3 → P2 → P1</a:t>
            </a:r>
          </a:p>
          <a:p>
            <a:pPr lvl="1"/>
            <a:r>
              <a:rPr sz="1700" b="0">
                <a:solidFill>
                  <a:srgbClr val="1A1A1A"/>
                </a:solidFill>
              </a:rPr>
              <a:t>     •  Second settlement grants 1 of each adjacent resource to start</a:t>
            </a:r>
          </a:p>
          <a:p>
            <a:r>
              <a:rPr sz="2000" b="1">
                <a:solidFill>
                  <a:srgbClr val="1A3D1A"/>
                </a:solidFill>
              </a:rPr>
              <a:t>▸  Each turn: Roll → Robber/Production → Trade → Build</a:t>
            </a:r>
          </a:p>
          <a:p>
            <a:pPr lvl="1"/>
            <a:r>
              <a:rPr sz="1700" b="0">
                <a:solidFill>
                  <a:srgbClr val="1A1A1A"/>
                </a:solidFill>
              </a:rPr>
              <a:t>     •  Roll 7: discard rule (&gt;7 cards) + robber targets the leading player</a:t>
            </a:r>
          </a:p>
          <a:p>
            <a:pPr lvl="1"/>
            <a:r>
              <a:rPr sz="1700" b="0">
                <a:solidFill>
                  <a:srgbClr val="1A1A1A"/>
                </a:solidFill>
              </a:rPr>
              <a:t>     •  Production: settlements yield 1 resource, cities yield 2</a:t>
            </a:r>
          </a:p>
          <a:p>
            <a:pPr lvl="1"/>
            <a:r>
              <a:rPr sz="1700" b="0">
                <a:solidFill>
                  <a:srgbClr val="1A1A1A"/>
                </a:solidFill>
              </a:rPr>
              <a:t>     •  Trade: bank 4:1 or port rates (3:1 general / 2:1 specific)</a:t>
            </a:r>
          </a:p>
          <a:p>
            <a:r>
              <a:rPr sz="2000" b="1">
                <a:solidFill>
                  <a:srgbClr val="1A3D1A"/>
                </a:solidFill>
              </a:rPr>
              <a:t>▸  Win condition: first player to reach 10 VP on their turn</a:t>
            </a:r>
          </a:p>
          <a:p>
            <a:pPr lvl="1"/>
            <a:r>
              <a:rPr sz="1700" b="0">
                <a:solidFill>
                  <a:srgbClr val="1A1A1A"/>
                </a:solidFill>
              </a:rPr>
              <a:t>     •  Stalemate safeguard: game ends after 500 turns (recorded as NA winner)</a:t>
            </a:r>
          </a:p>
          <a:p>
            <a:r>
              <a:rPr sz="2000" b="1">
                <a:solidFill>
                  <a:srgbClr val="1A3D1A"/>
                </a:solidFill>
              </a:rPr>
              <a:t>▸  Special VP bonuses tracked each turn</a:t>
            </a:r>
          </a:p>
          <a:p>
            <a:pPr lvl="1"/>
            <a:r>
              <a:rPr sz="1700" b="0">
                <a:solidFill>
                  <a:srgbClr val="1A1A1A"/>
                </a:solidFill>
              </a:rPr>
              <a:t>     •  Longest Road (≥ 5 segments) → 2 VP</a:t>
            </a:r>
          </a:p>
          <a:p>
            <a:pPr lvl="1"/>
            <a:r>
              <a:rPr sz="1700" b="0">
                <a:solidFill>
                  <a:srgbClr val="1A1A1A"/>
                </a:solidFill>
              </a:rPr>
              <a:t>     •  Largest Army (≥ 3 knights) → 2 VP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Simplifications vs. Full Catan Rules</a:t>
            </a:r>
          </a:p>
        </p:txBody>
      </p:sp>
      <p:graphicFrame>
        <p:nvGraphicFramePr>
          <p:cNvPr id="4" name="Table 3"/>
          <p:cNvGraphicFramePr>
            <a:graphicFrameLocks noGrp="1"/>
          </p:cNvGraphicFramePr>
          <p:nvPr>
            <p:extLst>
              <p:ext uri="{D42A27DB-BD31-4B8C-83A1-F6EECF244321}">
                <p14:modId xmlns:p14="http://schemas.microsoft.com/office/powerpoint/2010/main" val="597338681"/>
              </p:ext>
            </p:extLst>
          </p:nvPr>
        </p:nvGraphicFramePr>
        <p:xfrm>
          <a:off x="365760" y="1188720"/>
          <a:ext cx="11155680" cy="521208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731520">
                <a:tc>
                  <a:txBody>
                    <a:bodyPr/>
                    <a:lstStyle/>
                    <a:p>
                      <a:pPr algn="ctr"/>
                      <a:r>
                        <a:rPr sz="1800" b="1">
                          <a:solidFill>
                            <a:srgbClr val="FFFBF0"/>
                          </a:solidFill>
                        </a:rPr>
                        <a:t>Full Rule</a:t>
                      </a:r>
                    </a:p>
                  </a:txBody>
                  <a:tcPr>
                    <a:solidFill>
                      <a:srgbClr val="1A3D1A"/>
                    </a:solidFill>
                  </a:tcPr>
                </a:tc>
                <a:tc>
                  <a:txBody>
                    <a:bodyPr/>
                    <a:lstStyle/>
                    <a:p>
                      <a:pPr algn="ctr"/>
                      <a:r>
                        <a:rPr sz="1800" b="1" dirty="0">
                          <a:solidFill>
                            <a:srgbClr val="FFFBF0"/>
                          </a:solidFill>
                        </a:rPr>
                        <a:t>Simulation Simplification</a:t>
                      </a:r>
                    </a:p>
                  </a:txBody>
                  <a:tcPr>
                    <a:solidFill>
                      <a:srgbClr val="1A3D1A"/>
                    </a:solidFill>
                  </a:tcPr>
                </a:tc>
                <a:tc>
                  <a:txBody>
                    <a:bodyPr/>
                    <a:lstStyle/>
                    <a:p>
                      <a:pPr algn="ctr"/>
                      <a:r>
                        <a:rPr sz="1800" b="1">
                          <a:solidFill>
                            <a:srgbClr val="FFFBF0"/>
                          </a:solidFill>
                        </a:rPr>
                        <a:t>Impact on Results</a:t>
                      </a:r>
                    </a:p>
                  </a:txBody>
                  <a:tcPr>
                    <a:solidFill>
                      <a:srgbClr val="1A3D1A"/>
                    </a:solidFill>
                  </a:tcPr>
                </a:tc>
                <a:extLst>
                  <a:ext uri="{0D108BD9-81ED-4DB2-BD59-A6C34878D82A}">
                    <a16:rowId xmlns:a16="http://schemas.microsoft.com/office/drawing/2014/main" val="10000"/>
                  </a:ext>
                </a:extLst>
              </a:tr>
              <a:tr h="731520">
                <a:tc>
                  <a:txBody>
                    <a:bodyPr/>
                    <a:lstStyle/>
                    <a:p>
                      <a:pPr algn="l"/>
                      <a:r>
                        <a:rPr sz="1800">
                          <a:solidFill>
                            <a:srgbClr val="1A1A1A"/>
                          </a:solidFill>
                        </a:rPr>
                        <a:t>Player-to-player trading</a:t>
                      </a:r>
                    </a:p>
                  </a:txBody>
                  <a:tcPr>
                    <a:solidFill>
                      <a:srgbClr val="FFFBF0"/>
                    </a:solidFill>
                  </a:tcPr>
                </a:tc>
                <a:tc>
                  <a:txBody>
                    <a:bodyPr/>
                    <a:lstStyle/>
                    <a:p>
                      <a:pPr algn="l"/>
                      <a:r>
                        <a:rPr sz="1600" dirty="0"/>
                        <a:t>Omitted — strategies trade against bank/port only. Simulate-then-commit pattern: </a:t>
                      </a:r>
                      <a:r>
                        <a:rPr sz="1600" dirty="0" err="1"/>
                        <a:t>trade_toward</a:t>
                      </a:r>
                      <a:r>
                        <a:rPr sz="1600" dirty="0"/>
                        <a:t>() simulates the full sequence before committing any single trade. Unified goal order: city → settlement → dev card → road.</a:t>
                      </a:r>
                    </a:p>
                  </a:txBody>
                  <a:tcPr>
                    <a:solidFill>
                      <a:srgbClr val="FFFBF0"/>
                    </a:solidFill>
                  </a:tcPr>
                </a:tc>
                <a:tc>
                  <a:txBody>
                    <a:bodyPr/>
                    <a:lstStyle/>
                    <a:p>
                      <a:pPr algn="l"/>
                      <a:r>
                        <a:rPr sz="1600"/>
                        <a:t>Low: all strategies use the same trading engine; removes negotiation but preserves resource conversion logic</a:t>
                      </a:r>
                    </a:p>
                  </a:txBody>
                  <a:tcPr>
                    <a:solidFill>
                      <a:srgbClr val="FFFBF0"/>
                    </a:solidFill>
                  </a:tcPr>
                </a:tc>
                <a:extLst>
                  <a:ext uri="{0D108BD9-81ED-4DB2-BD59-A6C34878D82A}">
                    <a16:rowId xmlns:a16="http://schemas.microsoft.com/office/drawing/2014/main" val="10001"/>
                  </a:ext>
                </a:extLst>
              </a:tr>
              <a:tr h="731520">
                <a:tc>
                  <a:txBody>
                    <a:bodyPr/>
                    <a:lstStyle/>
                    <a:p>
                      <a:pPr algn="l"/>
                      <a:r>
                        <a:rPr sz="1800">
                          <a:solidFill>
                            <a:srgbClr val="1A1A1A"/>
                          </a:solidFill>
                        </a:rPr>
                        <a:t>Longest Road</a:t>
                      </a:r>
                    </a:p>
                  </a:txBody>
                  <a:tcPr>
                    <a:solidFill>
                      <a:srgbClr val="E8F0E0"/>
                    </a:solidFill>
                  </a:tcPr>
                </a:tc>
                <a:tc>
                  <a:txBody>
                    <a:bodyPr/>
                    <a:lstStyle/>
                    <a:p>
                      <a:pPr algn="l"/>
                      <a:r>
                        <a:rPr sz="1800">
                          <a:solidFill>
                            <a:srgbClr val="1A1A1A"/>
                          </a:solidFill>
                        </a:rPr>
                        <a:t>Tracked; 2 VP at ≥5 road segments</a:t>
                      </a:r>
                    </a:p>
                  </a:txBody>
                  <a:tcPr>
                    <a:solidFill>
                      <a:srgbClr val="E8F0E0"/>
                    </a:solidFill>
                  </a:tcPr>
                </a:tc>
                <a:tc>
                  <a:txBody>
                    <a:bodyPr/>
                    <a:lstStyle/>
                    <a:p>
                      <a:pPr algn="l"/>
                      <a:r>
                        <a:rPr sz="1800">
                          <a:solidFill>
                            <a:srgbClr val="1A1A1A"/>
                          </a:solidFill>
                        </a:rPr>
                        <a:t>Faithful to rules</a:t>
                      </a:r>
                    </a:p>
                  </a:txBody>
                  <a:tcPr>
                    <a:solidFill>
                      <a:srgbClr val="E8F0E0"/>
                    </a:solidFill>
                  </a:tcPr>
                </a:tc>
                <a:extLst>
                  <a:ext uri="{0D108BD9-81ED-4DB2-BD59-A6C34878D82A}">
                    <a16:rowId xmlns:a16="http://schemas.microsoft.com/office/drawing/2014/main" val="10002"/>
                  </a:ext>
                </a:extLst>
              </a:tr>
              <a:tr h="731520">
                <a:tc>
                  <a:txBody>
                    <a:bodyPr/>
                    <a:lstStyle/>
                    <a:p>
                      <a:pPr algn="l"/>
                      <a:r>
                        <a:rPr sz="1800">
                          <a:solidFill>
                            <a:srgbClr val="1A1A1A"/>
                          </a:solidFill>
                        </a:rPr>
                        <a:t>Largest Army</a:t>
                      </a:r>
                    </a:p>
                  </a:txBody>
                  <a:tcPr>
                    <a:solidFill>
                      <a:srgbClr val="FFFBF0"/>
                    </a:solidFill>
                  </a:tcPr>
                </a:tc>
                <a:tc>
                  <a:txBody>
                    <a:bodyPr/>
                    <a:lstStyle/>
                    <a:p>
                      <a:pPr algn="l"/>
                      <a:r>
                        <a:rPr sz="1800">
                          <a:solidFill>
                            <a:srgbClr val="1A1A1A"/>
                          </a:solidFill>
                        </a:rPr>
                        <a:t>Tracked; 2 VP at ≥3 knights</a:t>
                      </a:r>
                    </a:p>
                  </a:txBody>
                  <a:tcPr>
                    <a:solidFill>
                      <a:srgbClr val="FFFBF0"/>
                    </a:solidFill>
                  </a:tcPr>
                </a:tc>
                <a:tc>
                  <a:txBody>
                    <a:bodyPr/>
                    <a:lstStyle/>
                    <a:p>
                      <a:pPr algn="l"/>
                      <a:r>
                        <a:rPr sz="1800">
                          <a:solidFill>
                            <a:srgbClr val="1A1A1A"/>
                          </a:solidFill>
                        </a:rPr>
                        <a:t>Faithful to rules</a:t>
                      </a:r>
                    </a:p>
                  </a:txBody>
                  <a:tcPr>
                    <a:solidFill>
                      <a:srgbClr val="FFFBF0"/>
                    </a:solidFill>
                  </a:tcPr>
                </a:tc>
                <a:extLst>
                  <a:ext uri="{0D108BD9-81ED-4DB2-BD59-A6C34878D82A}">
                    <a16:rowId xmlns:a16="http://schemas.microsoft.com/office/drawing/2014/main" val="10003"/>
                  </a:ext>
                </a:extLst>
              </a:tr>
              <a:tr h="731520">
                <a:tc>
                  <a:txBody>
                    <a:bodyPr/>
                    <a:lstStyle/>
                    <a:p>
                      <a:pPr algn="l"/>
                      <a:r>
                        <a:rPr sz="1800">
                          <a:solidFill>
                            <a:srgbClr val="1A1A1A"/>
                          </a:solidFill>
                        </a:rPr>
                        <a:t>Robber targeting</a:t>
                      </a:r>
                    </a:p>
                  </a:txBody>
                  <a:tcPr>
                    <a:solidFill>
                      <a:srgbClr val="FFFBF0"/>
                    </a:solidFill>
                  </a:tcPr>
                </a:tc>
                <a:tc>
                  <a:txBody>
                    <a:bodyPr/>
                    <a:lstStyle/>
                    <a:p>
                      <a:pPr algn="l"/>
                      <a:r>
                        <a:rPr sz="1800">
                          <a:solidFill>
                            <a:srgbClr val="1A1A1A"/>
                          </a:solidFill>
                        </a:rPr>
                        <a:t>Always targets the leading player (most VP)</a:t>
                      </a:r>
                    </a:p>
                  </a:txBody>
                  <a:tcPr>
                    <a:solidFill>
                      <a:srgbClr val="FFFBF0"/>
                    </a:solidFill>
                  </a:tcPr>
                </a:tc>
                <a:tc>
                  <a:txBody>
                    <a:bodyPr/>
                    <a:lstStyle/>
                    <a:p>
                      <a:pPr algn="l"/>
                      <a:r>
                        <a:rPr sz="1800" dirty="0">
                          <a:solidFill>
                            <a:srgbClr val="1A1A1A"/>
                          </a:solidFill>
                        </a:rPr>
                        <a:t>Deterministic; slightly </a:t>
                      </a:r>
                      <a:r>
                        <a:rPr sz="1800" dirty="0" err="1">
                          <a:solidFill>
                            <a:srgbClr val="1A1A1A"/>
                          </a:solidFill>
                        </a:rPr>
                        <a:t>penalises</a:t>
                      </a:r>
                      <a:r>
                        <a:rPr sz="1800" dirty="0">
                          <a:solidFill>
                            <a:srgbClr val="1A1A1A"/>
                          </a:solidFill>
                        </a:rPr>
                        <a:t> front-runners</a:t>
                      </a:r>
                    </a:p>
                  </a:txBody>
                  <a:tcPr>
                    <a:solidFill>
                      <a:srgbClr val="FFFBF0"/>
                    </a:solidFill>
                  </a:tcPr>
                </a:tc>
                <a:extLst>
                  <a:ext uri="{0D108BD9-81ED-4DB2-BD59-A6C34878D82A}">
                    <a16:rowId xmlns:a16="http://schemas.microsoft.com/office/drawing/2014/main" val="10005"/>
                  </a:ext>
                </a:extLst>
              </a:tr>
              <a:tr h="731520">
                <a:tc>
                  <a:txBody>
                    <a:bodyPr/>
                    <a:lstStyle/>
                    <a:p>
                      <a:pPr algn="l"/>
                      <a:r>
                        <a:rPr sz="1800">
                          <a:solidFill>
                            <a:srgbClr val="1A1A1A"/>
                          </a:solidFill>
                        </a:rPr>
                        <a:t>Board geometry</a:t>
                      </a:r>
                    </a:p>
                  </a:txBody>
                  <a:tcPr>
                    <a:solidFill>
                      <a:srgbClr val="E8F0E0"/>
                    </a:solidFill>
                  </a:tcPr>
                </a:tc>
                <a:tc>
                  <a:txBody>
                    <a:bodyPr/>
                    <a:lstStyle/>
                    <a:p>
                      <a:pPr algn="l"/>
                      <a:r>
                        <a:rPr sz="1800">
                          <a:solidFill>
                            <a:srgbClr val="1A1A1A"/>
                          </a:solidFill>
                        </a:rPr>
                        <a:t>Intersection IDs enumerated for simulation; not pixel-perfect</a:t>
                      </a:r>
                    </a:p>
                  </a:txBody>
                  <a:tcPr>
                    <a:solidFill>
                      <a:srgbClr val="E8F0E0"/>
                    </a:solidFill>
                  </a:tcPr>
                </a:tc>
                <a:tc>
                  <a:txBody>
                    <a:bodyPr/>
                    <a:lstStyle/>
                    <a:p>
                      <a:pPr algn="l"/>
                      <a:r>
                        <a:rPr sz="1800" dirty="0">
                          <a:solidFill>
                            <a:srgbClr val="1A1A1A"/>
                          </a:solidFill>
                        </a:rPr>
                        <a:t>Structural relationships preserved</a:t>
                      </a:r>
                    </a:p>
                  </a:txBody>
                  <a:tcPr>
                    <a:solidFill>
                      <a:srgbClr val="E8F0E0"/>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How to Run the Simulation</a:t>
            </a:r>
          </a:p>
        </p:txBody>
      </p:sp>
      <p:sp>
        <p:nvSpPr>
          <p:cNvPr id="4" name="Rectangle 3"/>
          <p:cNvSpPr/>
          <p:nvPr/>
        </p:nvSpPr>
        <p:spPr>
          <a:xfrm>
            <a:off x="365760" y="1188720"/>
            <a:ext cx="7772400" cy="2926080"/>
          </a:xfrm>
          <a:prstGeom prst="rect">
            <a:avLst/>
          </a:prstGeom>
          <a:solidFill>
            <a:srgbClr val="1A3D1A"/>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25880"/>
            <a:ext cx="7315200" cy="2651760"/>
          </a:xfrm>
          <a:prstGeom prst="rect">
            <a:avLst/>
          </a:prstGeom>
          <a:noFill/>
        </p:spPr>
        <p:txBody>
          <a:bodyPr wrap="square">
            <a:spAutoFit/>
          </a:bodyPr>
          <a:lstStyle/>
          <a:p>
            <a:pPr algn="l"/>
            <a:r>
              <a:rPr sz="1700" b="0" i="0">
                <a:solidFill>
                  <a:srgbClr val="8ECF3A"/>
                </a:solidFill>
              </a:rPr>
              <a:t>source("R/simulation.R")
results &lt;- run_simulation(
    n_games = 1000,
    seed    = 42
)
source("R/analysis.R")
plot_win_rates(results)</a:t>
            </a:r>
          </a:p>
        </p:txBody>
      </p:sp>
      <p:sp>
        <p:nvSpPr>
          <p:cNvPr id="6" name="Rectangle 5"/>
          <p:cNvSpPr/>
          <p:nvPr/>
        </p:nvSpPr>
        <p:spPr>
          <a:xfrm>
            <a:off x="8412480" y="123444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49640" y="1307592"/>
            <a:ext cx="3108960" cy="365760"/>
          </a:xfrm>
          <a:prstGeom prst="rect">
            <a:avLst/>
          </a:prstGeom>
          <a:noFill/>
        </p:spPr>
        <p:txBody>
          <a:bodyPr wrap="square">
            <a:spAutoFit/>
          </a:bodyPr>
          <a:lstStyle/>
          <a:p>
            <a:pPr algn="l"/>
            <a:r>
              <a:rPr sz="1400" b="1" i="0">
                <a:solidFill>
                  <a:srgbClr val="1A3D1A"/>
                </a:solidFill>
              </a:rPr>
              <a:t>Output</a:t>
            </a:r>
          </a:p>
        </p:txBody>
      </p:sp>
      <p:sp>
        <p:nvSpPr>
          <p:cNvPr id="8" name="TextBox 7"/>
          <p:cNvSpPr txBox="1"/>
          <p:nvPr/>
        </p:nvSpPr>
        <p:spPr>
          <a:xfrm>
            <a:off x="8549640" y="1645920"/>
            <a:ext cx="3108960" cy="640080"/>
          </a:xfrm>
          <a:prstGeom prst="rect">
            <a:avLst/>
          </a:prstGeom>
          <a:noFill/>
        </p:spPr>
        <p:txBody>
          <a:bodyPr wrap="square">
            <a:spAutoFit/>
          </a:bodyPr>
          <a:lstStyle/>
          <a:p>
            <a:pPr algn="l"/>
            <a:r>
              <a:rPr sz="1300" b="0" i="0">
                <a:solidFill>
                  <a:srgbClr val="1A1A1A"/>
                </a:solidFill>
              </a:rPr>
              <a:t>results/simulation_results.csv</a:t>
            </a:r>
          </a:p>
        </p:txBody>
      </p:sp>
      <p:sp>
        <p:nvSpPr>
          <p:cNvPr id="9" name="Rectangle 8"/>
          <p:cNvSpPr/>
          <p:nvPr/>
        </p:nvSpPr>
        <p:spPr>
          <a:xfrm>
            <a:off x="8412480" y="256032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49640" y="2633472"/>
            <a:ext cx="3108960" cy="365760"/>
          </a:xfrm>
          <a:prstGeom prst="rect">
            <a:avLst/>
          </a:prstGeom>
          <a:noFill/>
        </p:spPr>
        <p:txBody>
          <a:bodyPr wrap="square">
            <a:spAutoFit/>
          </a:bodyPr>
          <a:lstStyle/>
          <a:p>
            <a:pPr algn="l"/>
            <a:r>
              <a:rPr sz="1400" b="1" i="0">
                <a:solidFill>
                  <a:srgbClr val="1A3D1A"/>
                </a:solidFill>
              </a:rPr>
              <a:t>Charts</a:t>
            </a:r>
          </a:p>
        </p:txBody>
      </p:sp>
      <p:sp>
        <p:nvSpPr>
          <p:cNvPr id="11" name="TextBox 10"/>
          <p:cNvSpPr txBox="1"/>
          <p:nvPr/>
        </p:nvSpPr>
        <p:spPr>
          <a:xfrm>
            <a:off x="8549640" y="2971800"/>
            <a:ext cx="3108960" cy="640080"/>
          </a:xfrm>
          <a:prstGeom prst="rect">
            <a:avLst/>
          </a:prstGeom>
          <a:noFill/>
        </p:spPr>
        <p:txBody>
          <a:bodyPr wrap="square">
            <a:spAutoFit/>
          </a:bodyPr>
          <a:lstStyle/>
          <a:p>
            <a:pPr algn="l"/>
            <a:r>
              <a:rPr sz="1300" b="0" i="0">
                <a:solidFill>
                  <a:srgbClr val="1A1A1A"/>
                </a:solidFill>
              </a:rPr>
              <a:t>Win rate bar chart with 95% CIs
VP distribution violin/boxplot</a:t>
            </a:r>
          </a:p>
        </p:txBody>
      </p:sp>
      <p:sp>
        <p:nvSpPr>
          <p:cNvPr id="12" name="Rectangle 11"/>
          <p:cNvSpPr/>
          <p:nvPr/>
        </p:nvSpPr>
        <p:spPr>
          <a:xfrm>
            <a:off x="8412480" y="388620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49640" y="3959352"/>
            <a:ext cx="3108960" cy="365760"/>
          </a:xfrm>
          <a:prstGeom prst="rect">
            <a:avLst/>
          </a:prstGeom>
          <a:noFill/>
        </p:spPr>
        <p:txBody>
          <a:bodyPr wrap="square">
            <a:spAutoFit/>
          </a:bodyPr>
          <a:lstStyle/>
          <a:p>
            <a:pPr algn="l"/>
            <a:r>
              <a:rPr sz="1400" b="1" i="0">
                <a:solidFill>
                  <a:srgbClr val="1A3D1A"/>
                </a:solidFill>
              </a:rPr>
              <a:t>Stats</a:t>
            </a:r>
          </a:p>
        </p:txBody>
      </p:sp>
      <p:sp>
        <p:nvSpPr>
          <p:cNvPr id="14" name="TextBox 13"/>
          <p:cNvSpPr txBox="1"/>
          <p:nvPr/>
        </p:nvSpPr>
        <p:spPr>
          <a:xfrm>
            <a:off x="8549640" y="4297680"/>
            <a:ext cx="3108960" cy="640080"/>
          </a:xfrm>
          <a:prstGeom prst="rect">
            <a:avLst/>
          </a:prstGeom>
          <a:noFill/>
        </p:spPr>
        <p:txBody>
          <a:bodyPr wrap="square">
            <a:spAutoFit/>
          </a:bodyPr>
          <a:lstStyle/>
          <a:p>
            <a:pPr algn="l"/>
            <a:r>
              <a:rPr sz="1300" b="0" i="0">
                <a:solidFill>
                  <a:srgbClr val="1A1A1A"/>
                </a:solidFill>
              </a:rPr>
              <a:t>χ² test on win-count table
Target: p &lt; 0.05</a:t>
            </a:r>
          </a:p>
        </p:txBody>
      </p:sp>
      <p:sp>
        <p:nvSpPr>
          <p:cNvPr id="15" name="Rectangle 14"/>
          <p:cNvSpPr/>
          <p:nvPr/>
        </p:nvSpPr>
        <p:spPr>
          <a:xfrm>
            <a:off x="8412480" y="521208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49640" y="5285232"/>
            <a:ext cx="3108960" cy="365760"/>
          </a:xfrm>
          <a:prstGeom prst="rect">
            <a:avLst/>
          </a:prstGeom>
          <a:noFill/>
        </p:spPr>
        <p:txBody>
          <a:bodyPr wrap="square">
            <a:spAutoFit/>
          </a:bodyPr>
          <a:lstStyle/>
          <a:p>
            <a:pPr algn="l"/>
            <a:r>
              <a:rPr sz="1400" b="1" i="0">
                <a:solidFill>
                  <a:srgbClr val="1A3D1A"/>
                </a:solidFill>
              </a:rPr>
              <a:t>Time</a:t>
            </a:r>
          </a:p>
        </p:txBody>
      </p:sp>
      <p:sp>
        <p:nvSpPr>
          <p:cNvPr id="17" name="TextBox 16"/>
          <p:cNvSpPr txBox="1"/>
          <p:nvPr/>
        </p:nvSpPr>
        <p:spPr>
          <a:xfrm>
            <a:off x="8549640" y="5623560"/>
            <a:ext cx="3108960" cy="640080"/>
          </a:xfrm>
          <a:prstGeom prst="rect">
            <a:avLst/>
          </a:prstGeom>
          <a:noFill/>
        </p:spPr>
        <p:txBody>
          <a:bodyPr wrap="square">
            <a:spAutoFit/>
          </a:bodyPr>
          <a:lstStyle/>
          <a:p>
            <a:pPr algn="l"/>
            <a:r>
              <a:rPr sz="1300" b="0" i="0">
                <a:solidFill>
                  <a:srgbClr val="1A1A1A"/>
                </a:solidFill>
              </a:rPr>
              <a:t>&lt; 60 seconds for 1,000 games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none">
            <a:spAutoFit/>
          </a:bodyPr>
          <a:lstStyle/>
          <a:p>
            <a:r>
              <a:rPr sz="2800" b="1">
                <a:solidFill>
                  <a:srgbClr val="FFFFFF"/>
                </a:solidFill>
              </a:rPr>
              <a:t>A Representative Game: ore_grain Wins (Seed 99)</a:t>
            </a:r>
          </a:p>
        </p:txBody>
      </p:sp>
      <p:pic>
        <p:nvPicPr>
          <p:cNvPr id="5" name="Picture 4" descr="game_seed_99.png"/>
          <p:cNvPicPr>
            <a:picLocks noChangeAspect="1"/>
          </p:cNvPicPr>
          <p:nvPr/>
        </p:nvPicPr>
        <p:blipFill>
          <a:blip r:embed="rId2"/>
          <a:stretch>
            <a:fillRect/>
          </a:stretch>
        </p:blipFill>
        <p:spPr>
          <a:xfrm>
            <a:off x="274320" y="1097280"/>
            <a:ext cx="8666480" cy="5577840"/>
          </a:xfrm>
          <a:prstGeom prst="rect">
            <a:avLst/>
          </a:prstGeom>
        </p:spPr>
      </p:pic>
      <p:sp>
        <p:nvSpPr>
          <p:cNvPr id="6" name="TextBox 5"/>
          <p:cNvSpPr txBox="1"/>
          <p:nvPr/>
        </p:nvSpPr>
        <p:spPr>
          <a:xfrm>
            <a:off x="8940800" y="1188720"/>
            <a:ext cx="3037840" cy="4524315"/>
          </a:xfrm>
          <a:prstGeom prst="rect">
            <a:avLst/>
          </a:prstGeom>
          <a:noFill/>
        </p:spPr>
        <p:txBody>
          <a:bodyPr wrap="square">
            <a:spAutoFit/>
          </a:bodyPr>
          <a:lstStyle/>
          <a:p>
            <a:r>
              <a:rPr sz="1600" b="1" dirty="0">
                <a:solidFill>
                  <a:srgbClr val="1A1A1A"/>
                </a:solidFill>
              </a:rPr>
              <a:t>Winner: </a:t>
            </a:r>
            <a:r>
              <a:rPr sz="1600" b="1" dirty="0" err="1">
                <a:solidFill>
                  <a:srgbClr val="1A1A1A"/>
                </a:solidFill>
              </a:rPr>
              <a:t>ore_grain</a:t>
            </a:r>
            <a:r>
              <a:rPr sz="1600" b="1" dirty="0">
                <a:solidFill>
                  <a:srgbClr val="1A1A1A"/>
                </a:solidFill>
              </a:rPr>
              <a:t> in 60 turns</a:t>
            </a:r>
          </a:p>
          <a:p>
            <a:r>
              <a:rPr sz="1400" b="0" dirty="0">
                <a:solidFill>
                  <a:srgbClr val="333333"/>
                </a:solidFill>
              </a:rPr>
              <a:t>Fastest </a:t>
            </a:r>
            <a:r>
              <a:rPr sz="1400" b="0" dirty="0" err="1">
                <a:solidFill>
                  <a:srgbClr val="333333"/>
                </a:solidFill>
              </a:rPr>
              <a:t>ore_grain</a:t>
            </a:r>
            <a:r>
              <a:rPr sz="1400" b="0" dirty="0">
                <a:solidFill>
                  <a:srgbClr val="333333"/>
                </a:solidFill>
              </a:rPr>
              <a:t> win in our 37-seed sample — a board where ore and grain placement aligned well from the start</a:t>
            </a:r>
          </a:p>
          <a:p>
            <a:endParaRPr sz="1400" b="0" dirty="0">
              <a:solidFill>
                <a:srgbClr val="333333"/>
              </a:solidFill>
            </a:endParaRPr>
          </a:p>
          <a:p>
            <a:r>
              <a:rPr sz="1600" b="1" dirty="0" err="1">
                <a:solidFill>
                  <a:srgbClr val="1A1A1A"/>
                </a:solidFill>
              </a:rPr>
              <a:t>ore_grain</a:t>
            </a:r>
            <a:r>
              <a:rPr sz="1600" b="1" dirty="0">
                <a:solidFill>
                  <a:srgbClr val="1A1A1A"/>
                </a:solidFill>
              </a:rPr>
              <a:t>: 1 settlement, 3 cities</a:t>
            </a:r>
          </a:p>
          <a:p>
            <a:r>
              <a:rPr sz="1400" b="0" dirty="0">
                <a:solidFill>
                  <a:srgbClr val="333333"/>
                </a:solidFill>
              </a:rPr>
              <a:t>Cities double ore/grain output, funding further cities — the compounding VP loop playing out at full speed</a:t>
            </a:r>
          </a:p>
          <a:p>
            <a:endParaRPr sz="1400" b="0" dirty="0">
              <a:solidFill>
                <a:srgbClr val="333333"/>
              </a:solidFill>
            </a:endParaRPr>
          </a:p>
          <a:p>
            <a:r>
              <a:rPr sz="1600" b="1" dirty="0">
                <a:solidFill>
                  <a:srgbClr val="1A1A1A"/>
                </a:solidFill>
              </a:rPr>
              <a:t>sheep: 3 settlements, 0 cities</a:t>
            </a:r>
          </a:p>
          <a:p>
            <a:r>
              <a:rPr sz="1400" b="0" dirty="0">
                <a:solidFill>
                  <a:srgbClr val="333333"/>
                </a:solidFill>
              </a:rPr>
              <a:t>Accumulated wool but could not convert it to ore/grain; stuck near starting VP with no upgrade path</a:t>
            </a:r>
          </a:p>
          <a:p>
            <a:endParaRPr sz="1400" b="0" dirty="0">
              <a:solidFill>
                <a:srgbClr val="333333"/>
              </a:solidFill>
            </a:endParaRPr>
          </a:p>
          <a:p>
            <a:r>
              <a:rPr sz="1600" b="1" dirty="0">
                <a:solidFill>
                  <a:srgbClr val="1A1A1A"/>
                </a:solidFill>
              </a:rPr>
              <a:t>balanced: 4 settlements, 0 cities</a:t>
            </a:r>
          </a:p>
          <a:p>
            <a:r>
              <a:rPr sz="1400" b="0" dirty="0">
                <a:solidFill>
                  <a:srgbClr val="333333"/>
                </a:solidFill>
              </a:rPr>
              <a:t>Diversified production but on this board couldn't reach city resources before </a:t>
            </a:r>
            <a:r>
              <a:rPr sz="1400" b="0" dirty="0" err="1">
                <a:solidFill>
                  <a:srgbClr val="333333"/>
                </a:solidFill>
              </a:rPr>
              <a:t>ore_grain</a:t>
            </a:r>
            <a:r>
              <a:rPr sz="1400" b="0" dirty="0">
                <a:solidFill>
                  <a:srgbClr val="333333"/>
                </a:solidFill>
              </a:rPr>
              <a:t> closed out</a:t>
            </a:r>
          </a:p>
          <a:p>
            <a:endParaRPr sz="1400" b="0" dirty="0">
              <a:solidFill>
                <a:srgbClr val="FF0000"/>
              </a:solidFill>
            </a:endParaRPr>
          </a:p>
        </p:txBody>
      </p:sp>
      <p:sp>
        <p:nvSpPr>
          <p:cNvPr id="7" name="Rectangle 6">
            <a:extLst>
              <a:ext uri="{FF2B5EF4-FFF2-40B4-BE49-F238E27FC236}">
                <a16:creationId xmlns:a16="http://schemas.microsoft.com/office/drawing/2014/main" id="{ABDBEB14-6892-A24B-7903-07D07FF14223}"/>
              </a:ext>
            </a:extLst>
          </p:cNvPr>
          <p:cNvSpPr/>
          <p:nvPr/>
        </p:nvSpPr>
        <p:spPr>
          <a:xfrm>
            <a:off x="7122160" y="4937760"/>
            <a:ext cx="4856480" cy="1737360"/>
          </a:xfrm>
          <a:prstGeom prst="rect">
            <a:avLst/>
          </a:prstGeom>
          <a:solidFill>
            <a:schemeClr val="accent2"/>
          </a:solidFill>
        </p:spPr>
        <p:style>
          <a:lnRef idx="1">
            <a:schemeClr val="accent1"/>
          </a:lnRef>
          <a:fillRef idx="3">
            <a:schemeClr val="accent1"/>
          </a:fillRef>
          <a:effectRef idx="2">
            <a:schemeClr val="accent1"/>
          </a:effectRef>
          <a:fontRef idx="minor">
            <a:schemeClr val="lt1"/>
          </a:fontRef>
        </p:style>
        <p:txBody>
          <a:bodyPr rtlCol="0" anchor="ctr"/>
          <a:lstStyle/>
          <a:p>
            <a:r>
              <a:rPr lang="en-US" sz="2000" b="1">
                <a:solidFill>
                  <a:sysClr val="windowText" lastClr="000000"/>
                </a:solidFill>
              </a:rPr>
              <a:t>Key takeaway</a:t>
            </a:r>
          </a:p>
          <a:p>
            <a:r>
              <a:rPr lang="en-US">
                <a:solidFill>
                  <a:sysClr val="windowText" lastClr="000000"/>
                </a:solidFill>
              </a:rPr>
              <a:t>When ore_grain secures strong ore/grain placement, it wins decisively. Sheep demonstrates the starvation failure mode regardless of board.</a:t>
            </a:r>
            <a:endParaRPr lang="en-US" dirty="0">
              <a:solidFill>
                <a:sysClr val="windowText" lastClr="0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Results: Win Rates by Strategy</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png"/>
          <p:cNvPicPr>
            <a:picLocks noChangeAspect="1"/>
          </p:cNvPicPr>
          <p:nvPr/>
        </p:nvPicPr>
        <p:blipFill>
          <a:blip r:embed="rId2"/>
          <a:stretch>
            <a:fillRect/>
          </a:stretch>
        </p:blipFill>
        <p:spPr>
          <a:xfrm>
            <a:off x="2326640" y="1143000"/>
            <a:ext cx="7508240" cy="5029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Results: VP Distribution at Game End</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png"/>
          <p:cNvPicPr>
            <a:picLocks noChangeAspect="1"/>
          </p:cNvPicPr>
          <p:nvPr/>
        </p:nvPicPr>
        <p:blipFill>
          <a:blip r:embed="rId2"/>
          <a:stretch>
            <a:fillRect/>
          </a:stretch>
        </p:blipFill>
        <p:spPr>
          <a:xfrm>
            <a:off x="2446972" y="1143000"/>
            <a:ext cx="7294880" cy="5029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9728"/>
            <a:ext cx="11430000" cy="822960"/>
          </a:xfrm>
          <a:prstGeom prst="rect">
            <a:avLst/>
          </a:prstGeom>
          <a:noFill/>
        </p:spPr>
        <p:txBody>
          <a:bodyPr wrap="none">
            <a:spAutoFit/>
          </a:bodyPr>
          <a:lstStyle/>
          <a:p>
            <a:r>
              <a:rPr sz="2800" b="1">
                <a:solidFill>
                  <a:srgbClr val="FFFFFF"/>
                </a:solidFill>
              </a:rPr>
              <a:t>Results: VP Breakdown by Strategy</a:t>
            </a:r>
          </a:p>
        </p:txBody>
      </p:sp>
      <p:pic>
        <p:nvPicPr>
          <p:cNvPr id="6" name="Picture 5" descr="image.png"/>
          <p:cNvPicPr>
            <a:picLocks noChangeAspect="1"/>
          </p:cNvPicPr>
          <p:nvPr/>
        </p:nvPicPr>
        <p:blipFill>
          <a:blip r:embed="rId2"/>
          <a:stretch>
            <a:fillRect/>
          </a:stretch>
        </p:blipFill>
        <p:spPr>
          <a:xfrm>
            <a:off x="2133600" y="1325880"/>
            <a:ext cx="7894320" cy="50292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9728"/>
            <a:ext cx="11430000" cy="822960"/>
          </a:xfrm>
          <a:prstGeom prst="rect">
            <a:avLst/>
          </a:prstGeom>
          <a:noFill/>
        </p:spPr>
        <p:txBody>
          <a:bodyPr wrap="none">
            <a:spAutoFit/>
          </a:bodyPr>
          <a:lstStyle/>
          <a:p>
            <a:r>
              <a:rPr sz="2800" b="1">
                <a:solidFill>
                  <a:srgbClr val="FFFFFF"/>
                </a:solidFill>
              </a:rPr>
              <a:t>Results: Game Length Distribution</a:t>
            </a:r>
          </a:p>
        </p:txBody>
      </p:sp>
      <p:pic>
        <p:nvPicPr>
          <p:cNvPr id="6" name="Picture 5" descr="image.png"/>
          <p:cNvPicPr>
            <a:picLocks noChangeAspect="1"/>
          </p:cNvPicPr>
          <p:nvPr/>
        </p:nvPicPr>
        <p:blipFill>
          <a:blip r:embed="rId2"/>
          <a:stretch>
            <a:fillRect/>
          </a:stretch>
        </p:blipFill>
        <p:spPr>
          <a:xfrm>
            <a:off x="1965960" y="1295400"/>
            <a:ext cx="8229600" cy="5029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Statistical Analysis</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881360" cy="4846320"/>
          </a:xfrm>
          <a:prstGeom prst="rect">
            <a:avLst/>
          </a:prstGeom>
          <a:noFill/>
        </p:spPr>
        <p:txBody>
          <a:bodyPr wrap="square">
            <a:spAutoFit/>
          </a:bodyPr>
          <a:lstStyle/>
          <a:p>
            <a:r>
              <a:rPr sz="2200" b="1">
                <a:solidFill>
                  <a:srgbClr val="1A1A1A"/>
                </a:solidFill>
              </a:rPr>
              <a:t>Hypothesis</a:t>
            </a:r>
          </a:p>
          <a:p>
            <a:r>
              <a:rPr sz="1400" b="0">
                <a:solidFill>
                  <a:srgbClr val="333333"/>
                </a:solidFill>
              </a:rPr>
              <a:t>H₀: all three strategies win equally often  (expected 333 wins each out of 1,000 games)</a:t>
            </a:r>
          </a:p>
          <a:p>
            <a:r>
              <a:rPr sz="1400" b="0">
                <a:solidFill>
                  <a:srgbClr val="333333"/>
                </a:solidFill>
              </a:rPr>
              <a:t>H₁: win rates differ significantly across strategies</a:t>
            </a:r>
          </a:p>
          <a:p>
            <a:endParaRPr sz="1400" b="0">
              <a:solidFill>
                <a:srgbClr val="333333"/>
              </a:solidFill>
            </a:endParaRPr>
          </a:p>
          <a:p>
            <a:r>
              <a:rPr sz="2200" b="1">
                <a:solidFill>
                  <a:srgbClr val="1A1A1A"/>
                </a:solidFill>
              </a:rPr>
              <a:t>Observed Results</a:t>
            </a:r>
          </a:p>
          <a:p>
            <a:r>
              <a:rPr sz="1400" b="0">
                <a:solidFill>
                  <a:srgbClr val="333333"/>
                </a:solidFill>
              </a:rPr>
              <a:t>ore_grain   491 / 1,000   (49.1%)   95% CI [46.0%, 52.2%]</a:t>
            </a:r>
          </a:p>
          <a:p>
            <a:r>
              <a:rPr sz="1400" b="0">
                <a:solidFill>
                  <a:srgbClr val="333333"/>
                </a:solidFill>
              </a:rPr>
              <a:t>balanced    390 / 1,000   (39.0%)   95% CI [36.0%, 42.1%]</a:t>
            </a:r>
          </a:p>
          <a:p>
            <a:r>
              <a:rPr sz="1400" b="0">
                <a:solidFill>
                  <a:srgbClr val="333333"/>
                </a:solidFill>
              </a:rPr>
              <a:t>sheep       119 / 1,000   (11.9%)   95% CI [10.0%, 14.1%]</a:t>
            </a:r>
          </a:p>
          <a:p>
            <a:endParaRPr sz="1400" b="0">
              <a:solidFill>
                <a:srgbClr val="333333"/>
              </a:solidFill>
            </a:endParaRPr>
          </a:p>
          <a:p>
            <a:r>
              <a:rPr sz="2200" b="1">
                <a:solidFill>
                  <a:srgbClr val="1A1A1A"/>
                </a:solidFill>
              </a:rPr>
              <a:t>Chi-Squared Test</a:t>
            </a:r>
          </a:p>
          <a:p>
            <a:r>
              <a:rPr sz="1400" b="0">
                <a:solidFill>
                  <a:srgbClr val="333333"/>
                </a:solidFill>
              </a:rPr>
              <a:t>χ² = 222.03     df = 2     p-value &lt; 1 × 10⁻¹⁰</a:t>
            </a:r>
          </a:p>
          <a:p>
            <a:endParaRPr sz="1400" b="0">
              <a:solidFill>
                <a:srgbClr val="333333"/>
              </a:solidFill>
            </a:endParaRPr>
          </a:p>
          <a:p>
            <a:r>
              <a:rPr sz="1800" b="1">
                <a:solidFill>
                  <a:srgbClr val="1A7A1A"/>
                </a:solidFill>
              </a:rPr>
              <a:t>✔  Reject H₀ at p &lt; 0.05  —  win rates differ significantly</a:t>
            </a:r>
          </a:p>
          <a:p>
            <a:r>
              <a:rPr sz="1400" b="0">
                <a:solidFill>
                  <a:srgbClr val="333333"/>
                </a:solidFill>
              </a:rPr>
              <a:t>Sheep wins significantly less than both balanced and ore_grain</a:t>
            </a:r>
          </a:p>
          <a:p>
            <a:r>
              <a:rPr sz="1400" b="0">
                <a:solidFill>
                  <a:srgbClr val="333333"/>
                </a:solidFill>
              </a:rPr>
              <a:t>ore_grain outperforms balanced by ~10 percentage points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5F0"/>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9144000" cy="822960"/>
          </a:xfrm>
          <a:prstGeom prst="rect">
            <a:avLst/>
          </a:prstGeom>
          <a:noFill/>
        </p:spPr>
        <p:txBody>
          <a:bodyPr wrap="square">
            <a:spAutoFit/>
          </a:bodyPr>
          <a:lstStyle/>
          <a:p>
            <a:pPr algn="l"/>
            <a:r>
              <a:rPr sz="3200" b="1" i="0">
                <a:solidFill>
                  <a:srgbClr val="FFFBF0"/>
                </a:solidFill>
              </a:rPr>
              <a:t>Summary</a:t>
            </a:r>
          </a:p>
        </p:txBody>
      </p:sp>
      <p:pic>
        <p:nvPicPr>
          <p:cNvPr id="4" name="Picture 3" descr="baaad_sticker.png"/>
          <p:cNvPicPr>
            <a:picLocks noChangeAspect="1"/>
          </p:cNvPicPr>
          <p:nvPr/>
        </p:nvPicPr>
        <p:blipFill>
          <a:blip r:embed="rId2"/>
          <a:stretch>
            <a:fillRect/>
          </a:stretch>
        </p:blipFill>
        <p:spPr>
          <a:xfrm>
            <a:off x="9448127" y="1097280"/>
            <a:ext cx="2375064" cy="2743200"/>
          </a:xfrm>
          <a:prstGeom prst="rect">
            <a:avLst/>
          </a:prstGeom>
        </p:spPr>
      </p:pic>
      <p:sp>
        <p:nvSpPr>
          <p:cNvPr id="5" name="TextBox 4"/>
          <p:cNvSpPr txBox="1"/>
          <p:nvPr/>
        </p:nvSpPr>
        <p:spPr>
          <a:xfrm>
            <a:off x="457200" y="1188720"/>
            <a:ext cx="8229600" cy="4937760"/>
          </a:xfrm>
          <a:prstGeom prst="rect">
            <a:avLst/>
          </a:prstGeom>
          <a:noFill/>
        </p:spPr>
        <p:txBody>
          <a:bodyPr wrap="square">
            <a:spAutoFit/>
          </a:bodyPr>
          <a:lstStyle/>
          <a:p>
            <a:r>
              <a:rPr sz="2000" b="1">
                <a:solidFill>
                  <a:srgbClr val="1A3D1A"/>
                </a:solidFill>
              </a:rPr>
              <a:t>▸  Sheep strategy loses — the numbers prove it</a:t>
            </a:r>
          </a:p>
          <a:p>
            <a:r>
              <a:rPr sz="1700">
                <a:solidFill>
                  <a:srgbClr val="1A1A1A"/>
                </a:solidFill>
              </a:rPr>
              <a:t>     •  Win rate significantly lower than balanced (p &lt; 0.05) across 1,000 games</a:t>
            </a:r>
          </a:p>
          <a:p>
            <a:r>
              <a:rPr sz="2000" b="1">
                <a:solidFill>
                  <a:srgbClr val="1A3D1A"/>
                </a:solidFill>
              </a:rPr>
              <a:t>▸  Why: wool is structurally weak as a primary resource</a:t>
            </a:r>
          </a:p>
          <a:p>
            <a:r>
              <a:rPr sz="1700">
                <a:solidFill>
                  <a:srgbClr val="1A1A1A"/>
                </a:solidFill>
              </a:rPr>
              <a:t>     •  Cities need ore + grain, not wool</a:t>
            </a:r>
          </a:p>
          <a:p>
            <a:r>
              <a:rPr sz="1700">
                <a:solidFill>
                  <a:srgbClr val="1A1A1A"/>
                </a:solidFill>
              </a:rPr>
              <a:t>     •  Wool is abundant; the 2:1 port advantage is marginal</a:t>
            </a:r>
          </a:p>
          <a:p>
            <a:r>
              <a:rPr sz="2000" b="1">
                <a:solidFill>
                  <a:srgbClr val="1A3D1A"/>
                </a:solidFill>
              </a:rPr>
              <a:t>▸  Two strategies outperform sheep</a:t>
            </a:r>
          </a:p>
          <a:p>
            <a:r>
              <a:rPr sz="1700">
                <a:solidFill>
                  <a:srgbClr val="1A1A1A"/>
                </a:solidFill>
              </a:rPr>
              <a:t>     •  Balanced: pip diversity + city focus; consistent on any board
     •  Ore_grain: ore/grain dominance + city compounding; wins fast when placement aligns</a:t>
            </a:r>
          </a:p>
          <a:p>
            <a:r>
              <a:rPr sz="2000" b="1">
                <a:solidFill>
                  <a:srgbClr val="1A3D1A"/>
                </a:solidFill>
              </a:rPr>
              <a:t>▸  Reproducible · Fast · Open source</a:t>
            </a:r>
          </a:p>
        </p:txBody>
      </p:sp>
      <p:sp>
        <p:nvSpPr>
          <p:cNvPr id="6" name="TextBox 5"/>
          <p:cNvSpPr txBox="1"/>
          <p:nvPr/>
        </p:nvSpPr>
        <p:spPr>
          <a:xfrm>
            <a:off x="8818880" y="3977640"/>
            <a:ext cx="3004311" cy="292388"/>
          </a:xfrm>
          <a:prstGeom prst="rect">
            <a:avLst/>
          </a:prstGeom>
          <a:noFill/>
        </p:spPr>
        <p:txBody>
          <a:bodyPr wrap="square">
            <a:spAutoFit/>
          </a:bodyPr>
          <a:lstStyle/>
          <a:p>
            <a:pPr algn="ctr"/>
            <a:r>
              <a:rPr sz="1300" b="1" i="0" dirty="0">
                <a:solidFill>
                  <a:srgbClr val="2E7D32"/>
                </a:solidFill>
              </a:rPr>
              <a:t>github.com/ayoung31/</a:t>
            </a:r>
            <a:r>
              <a:rPr sz="1300" b="1" i="0" dirty="0" err="1">
                <a:solidFill>
                  <a:srgbClr val="2E7D32"/>
                </a:solidFill>
              </a:rPr>
              <a:t>baaad</a:t>
            </a:r>
            <a:r>
              <a:rPr sz="1300" b="1" i="0" dirty="0">
                <a:solidFill>
                  <a:srgbClr val="2E7D32"/>
                </a:solidFill>
              </a:rPr>
              <a:t>-strategy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3D1A"/>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Acknowledgements</a:t>
            </a:r>
          </a:p>
        </p:txBody>
      </p:sp>
      <p:sp>
        <p:nvSpPr>
          <p:cNvPr id="4" name="Rectangle 3"/>
          <p:cNvSpPr/>
          <p:nvPr/>
        </p:nvSpPr>
        <p:spPr>
          <a:xfrm>
            <a:off x="365760" y="1188720"/>
            <a:ext cx="5394960" cy="5212080"/>
          </a:xfrm>
          <a:prstGeom prst="rect">
            <a:avLst/>
          </a:prstGeom>
          <a:solidFill>
            <a:srgbClr val="224A22"/>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25880"/>
            <a:ext cx="5120640" cy="548640"/>
          </a:xfrm>
          <a:prstGeom prst="rect">
            <a:avLst/>
          </a:prstGeom>
          <a:noFill/>
        </p:spPr>
        <p:txBody>
          <a:bodyPr wrap="square">
            <a:spAutoFit/>
          </a:bodyPr>
          <a:lstStyle/>
          <a:p>
            <a:pPr algn="l"/>
            <a:r>
              <a:rPr sz="2200" b="1" i="0">
                <a:solidFill>
                  <a:srgbClr val="8ECF3A"/>
                </a:solidFill>
              </a:rPr>
              <a:t>The Goof Troop</a:t>
            </a:r>
          </a:p>
        </p:txBody>
      </p:sp>
      <p:sp>
        <p:nvSpPr>
          <p:cNvPr id="6" name="TextBox 5"/>
          <p:cNvSpPr txBox="1"/>
          <p:nvPr/>
        </p:nvSpPr>
        <p:spPr>
          <a:xfrm>
            <a:off x="502920" y="1965960"/>
            <a:ext cx="5120640" cy="1661993"/>
          </a:xfrm>
          <a:prstGeom prst="rect">
            <a:avLst/>
          </a:prstGeom>
          <a:noFill/>
        </p:spPr>
        <p:txBody>
          <a:bodyPr wrap="square">
            <a:spAutoFit/>
          </a:bodyPr>
          <a:lstStyle/>
          <a:p>
            <a:pPr algn="l"/>
            <a:r>
              <a:rPr sz="1700" b="0" i="0" dirty="0">
                <a:solidFill>
                  <a:srgbClr val="FFFBF0"/>
                </a:solidFill>
              </a:rPr>
              <a:t>For countless hours of </a:t>
            </a:r>
            <a:r>
              <a:rPr lang="en-US" sz="1700" dirty="0">
                <a:solidFill>
                  <a:srgbClr val="FFFBF0"/>
                </a:solidFill>
              </a:rPr>
              <a:t>board games</a:t>
            </a:r>
            <a:r>
              <a:rPr sz="1700" b="0" i="0" dirty="0">
                <a:solidFill>
                  <a:srgbClr val="FFFBF0"/>
                </a:solidFill>
              </a:rPr>
              <a:t>, heated </a:t>
            </a:r>
            <a:r>
              <a:rPr lang="en-US" sz="1700" dirty="0">
                <a:solidFill>
                  <a:srgbClr val="FFFBF0"/>
                </a:solidFill>
              </a:rPr>
              <a:t>rule</a:t>
            </a:r>
            <a:r>
              <a:rPr sz="1700" b="0" i="0" dirty="0">
                <a:solidFill>
                  <a:srgbClr val="FFFBF0"/>
                </a:solidFill>
              </a:rPr>
              <a:t> disputes, questionable trades, and the kind of chaotic gameplay that makes statistical analysis both necessary and deeply personal.
This project exists because of you.</a:t>
            </a:r>
          </a:p>
        </p:txBody>
      </p:sp>
      <p:sp>
        <p:nvSpPr>
          <p:cNvPr id="7" name="Rectangle 6"/>
          <p:cNvSpPr/>
          <p:nvPr/>
        </p:nvSpPr>
        <p:spPr>
          <a:xfrm>
            <a:off x="6263640" y="1188720"/>
            <a:ext cx="5394960" cy="5212080"/>
          </a:xfrm>
          <a:prstGeom prst="rect">
            <a:avLst/>
          </a:prstGeom>
          <a:solidFill>
            <a:srgbClr val="224A22"/>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0" y="1325880"/>
            <a:ext cx="5120640" cy="548640"/>
          </a:xfrm>
          <a:prstGeom prst="rect">
            <a:avLst/>
          </a:prstGeom>
          <a:noFill/>
        </p:spPr>
        <p:txBody>
          <a:bodyPr wrap="square">
            <a:spAutoFit/>
          </a:bodyPr>
          <a:lstStyle/>
          <a:p>
            <a:pPr algn="l"/>
            <a:r>
              <a:rPr sz="2200" b="1" i="0">
                <a:solidFill>
                  <a:srgbClr val="8ECF3A"/>
                </a:solidFill>
              </a:rPr>
              <a:t>Mark</a:t>
            </a:r>
          </a:p>
        </p:txBody>
      </p:sp>
      <p:sp>
        <p:nvSpPr>
          <p:cNvPr id="9" name="TextBox 8"/>
          <p:cNvSpPr txBox="1"/>
          <p:nvPr/>
        </p:nvSpPr>
        <p:spPr>
          <a:xfrm>
            <a:off x="6400800" y="1965960"/>
            <a:ext cx="5120640" cy="4114800"/>
          </a:xfrm>
          <a:prstGeom prst="rect">
            <a:avLst/>
          </a:prstGeom>
          <a:noFill/>
        </p:spPr>
        <p:txBody>
          <a:bodyPr wrap="square">
            <a:spAutoFit/>
          </a:bodyPr>
          <a:lstStyle/>
          <a:p>
            <a:pPr algn="l"/>
            <a:r>
              <a:rPr sz="1700" b="0" i="0">
                <a:solidFill>
                  <a:srgbClr val="FFFBF0"/>
                </a:solidFill>
              </a:rPr>
              <a:t>For his unwavering commitment to the sheep strategy in the face of all evidence, logic, and repeated defeat.
Without Mark's baaad decisions, this project would never have been born.
The data is dedicated to him.</a:t>
            </a:r>
          </a:p>
        </p:txBody>
      </p:sp>
      <p:sp>
        <p:nvSpPr>
          <p:cNvPr id="10" name="Rectangle 9"/>
          <p:cNvSpPr/>
          <p:nvPr/>
        </p:nvSpPr>
        <p:spPr>
          <a:xfrm>
            <a:off x="5989320" y="1371600"/>
            <a:ext cx="45720" cy="4754880"/>
          </a:xfrm>
          <a:prstGeom prst="rect">
            <a:avLst/>
          </a:prstGeom>
          <a:solidFill>
            <a:srgbClr val="8EC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TotalTime>
  <Words>1872</Words>
  <Application>Microsoft Office PowerPoint</Application>
  <PresentationFormat>Custom</PresentationFormat>
  <Paragraphs>211</Paragraphs>
  <Slides>19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Young, Amber Marie</cp:lastModifiedBy>
  <cp:revision>5</cp:revision>
  <dcterms:created xsi:type="dcterms:W3CDTF">2013-01-27T09:14:16Z</dcterms:created>
  <dcterms:modified xsi:type="dcterms:W3CDTF">2026-03-24T21:22:34Z</dcterms:modified>
  <cp:category/>
</cp:coreProperties>
</file>