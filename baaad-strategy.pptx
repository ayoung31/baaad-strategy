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D1A"/>
        </a:solidFill>
        <a:effectLst/>
      </p:bgPr>
    </p:bg>
    <p:spTree>
      <p:nvGrpSpPr>
        <p:cNvPr id="1" name=""/>
        <p:cNvGrpSpPr/>
        <p:nvPr/>
      </p:nvGrpSpPr>
      <p:grpSpPr/>
      <p:sp>
        <p:nvSpPr>
          <p:cNvPr id="2" name="Oval 1"/>
          <p:cNvSpPr/>
          <p:nvPr/>
        </p:nvSpPr>
        <p:spPr>
          <a:xfrm>
            <a:off x="9052560" y="-548640"/>
            <a:ext cx="2926080" cy="2926080"/>
          </a:xfrm>
          <a:prstGeom prst="ellipse">
            <a:avLst/>
          </a:prstGeom>
          <a:solidFill>
            <a:srgbClr val="2E5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1554480"/>
            <a:ext cx="2011680" cy="2011680"/>
          </a:xfrm>
          <a:prstGeom prst="ellipse">
            <a:avLst/>
          </a:prstGeom>
          <a:solidFill>
            <a:srgbClr val="264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869680" y="1554480"/>
            <a:ext cx="1463040" cy="1463040"/>
          </a:xfrm>
          <a:prstGeom prst="ellipse">
            <a:avLst/>
          </a:prstGeom>
          <a:solidFill>
            <a:srgbClr val="224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2377440"/>
            <a:ext cx="12188952" cy="73152"/>
          </a:xfrm>
          <a:prstGeom prst="rect">
            <a:avLst/>
          </a:prstGeom>
          <a:solidFill>
            <a:srgbClr val="8EC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731520"/>
            <a:ext cx="9144000" cy="1645920"/>
          </a:xfrm>
          <a:prstGeom prst="rect">
            <a:avLst/>
          </a:prstGeom>
          <a:noFill/>
        </p:spPr>
        <p:txBody>
          <a:bodyPr wrap="none">
            <a:spAutoFit/>
          </a:bodyPr>
          <a:lstStyle/>
          <a:p>
            <a:r>
              <a:rPr sz="5600" b="1">
                <a:solidFill>
                  <a:srgbClr val="8ECF3A"/>
                </a:solidFill>
              </a:rPr>
              <a:t>baaad-strategy</a:t>
            </a:r>
          </a:p>
        </p:txBody>
      </p:sp>
      <p:sp>
        <p:nvSpPr>
          <p:cNvPr id="7" name="TextBox 6"/>
          <p:cNvSpPr txBox="1"/>
          <p:nvPr/>
        </p:nvSpPr>
        <p:spPr>
          <a:xfrm>
            <a:off x="548640" y="2514600"/>
            <a:ext cx="10058400" cy="1097280"/>
          </a:xfrm>
          <a:prstGeom prst="rect">
            <a:avLst/>
          </a:prstGeom>
          <a:noFill/>
        </p:spPr>
        <p:txBody>
          <a:bodyPr wrap="square">
            <a:spAutoFit/>
          </a:bodyPr>
          <a:lstStyle/>
          <a:p>
            <a:r>
              <a:rPr sz="2600" i="1">
                <a:solidFill>
                  <a:srgbClr val="FFFBF0"/>
                </a:solidFill>
              </a:rPr>
              <a:t>A Monte Carlo simulation proving the sheep strategy in Catan is baaad</a:t>
            </a:r>
          </a:p>
        </p:txBody>
      </p:sp>
      <p:sp>
        <p:nvSpPr>
          <p:cNvPr id="8" name="TextBox 7"/>
          <p:cNvSpPr txBox="1"/>
          <p:nvPr/>
        </p:nvSpPr>
        <p:spPr>
          <a:xfrm>
            <a:off x="548640" y="3749039"/>
            <a:ext cx="10058400" cy="731520"/>
          </a:xfrm>
          <a:prstGeom prst="rect">
            <a:avLst/>
          </a:prstGeom>
          <a:noFill/>
        </p:spPr>
        <p:txBody>
          <a:bodyPr wrap="none">
            <a:spAutoFit/>
          </a:bodyPr>
          <a:lstStyle/>
          <a:p>
            <a:r>
              <a:rPr sz="1800">
                <a:solidFill>
                  <a:srgbClr val="E8C030"/>
                </a:solidFill>
              </a:rPr>
              <a:t>Built in R  ·  1,000 simulated games  ·  χ² statistical significance testing</a:t>
            </a:r>
          </a:p>
        </p:txBody>
      </p:sp>
      <p:sp>
        <p:nvSpPr>
          <p:cNvPr id="9" name="TextBox 8"/>
          <p:cNvSpPr txBox="1"/>
          <p:nvPr/>
        </p:nvSpPr>
        <p:spPr>
          <a:xfrm>
            <a:off x="548640" y="6217920"/>
            <a:ext cx="5486400" cy="457200"/>
          </a:xfrm>
          <a:prstGeom prst="rect">
            <a:avLst/>
          </a:prstGeom>
          <a:noFill/>
        </p:spPr>
        <p:txBody>
          <a:bodyPr wrap="square">
            <a:spAutoFit/>
          </a:bodyPr>
          <a:lstStyle/>
          <a:p>
            <a:pPr algn="l"/>
            <a:r>
              <a:rPr sz="1300" b="0" i="0">
                <a:solidFill>
                  <a:srgbClr val="88AA88"/>
                </a:solidFill>
              </a:rPr>
              <a:t>github.com/amyou/baaad-strategy</a:t>
            </a:r>
          </a:p>
        </p:txBody>
      </p:sp>
      <p:pic>
        <p:nvPicPr>
          <p:cNvPr id="10" name="Picture 9" descr="baaad_sticker.png"/>
          <p:cNvPicPr>
            <a:picLocks noChangeAspect="1"/>
          </p:cNvPicPr>
          <p:nvPr/>
        </p:nvPicPr>
        <p:blipFill>
          <a:blip r:embed="rId2"/>
          <a:stretch>
            <a:fillRect/>
          </a:stretch>
        </p:blipFill>
        <p:spPr>
          <a:xfrm>
            <a:off x="9618735" y="228600"/>
            <a:ext cx="2295896" cy="26517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22960"/>
          </a:xfrm>
          <a:prstGeom prst="rect">
            <a:avLst/>
          </a:prstGeom>
          <a:noFill/>
        </p:spPr>
        <p:txBody>
          <a:bodyPr wrap="square">
            <a:spAutoFit/>
          </a:bodyPr>
          <a:lstStyle/>
          <a:p>
            <a:pPr algn="l"/>
            <a:r>
              <a:rPr sz="3200" b="1" i="0">
                <a:solidFill>
                  <a:srgbClr val="FFFBF0"/>
                </a:solidFill>
              </a:rPr>
              <a:t>What Is This Project?</a:t>
            </a:r>
          </a:p>
        </p:txBody>
      </p:sp>
      <p:sp>
        <p:nvSpPr>
          <p:cNvPr id="4" name="Rectangle 3"/>
          <p:cNvSpPr/>
          <p:nvPr/>
        </p:nvSpPr>
        <p:spPr>
          <a:xfrm>
            <a:off x="274320" y="1143000"/>
            <a:ext cx="11612880" cy="5394960"/>
          </a:xfrm>
          <a:prstGeom prst="rect">
            <a:avLst/>
          </a:prstGeom>
          <a:solidFill>
            <a:srgbClr val="FFFBF0"/>
          </a:solidFill>
          <a:ln w="9525">
            <a:solidFill>
              <a:srgbClr val="CCCC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0"/>
            <a:ext cx="11155680" cy="5120640"/>
          </a:xfrm>
          <a:prstGeom prst="rect">
            <a:avLst/>
          </a:prstGeom>
          <a:noFill/>
        </p:spPr>
        <p:txBody>
          <a:bodyPr wrap="square">
            <a:spAutoFit/>
          </a:bodyPr>
          <a:lstStyle/>
          <a:p>
            <a:pPr/>
            <a:r>
              <a:rPr sz="2000" b="1">
                <a:solidFill>
                  <a:srgbClr val="1A3D1A"/>
                </a:solidFill>
              </a:rPr>
              <a:t>▸  Settle the debate: is going all-in on sheep actually a good Catan strategy?</a:t>
            </a:r>
          </a:p>
          <a:p>
            <a:pPr lvl="1"/>
            <a:r>
              <a:rPr sz="1700" b="0">
                <a:solidFill>
                  <a:srgbClr val="1A1A1A"/>
                </a:solidFill>
              </a:rPr>
              <a:t>     •  The 'sheep strategy' — settle on high-wool hexes, race to the 2:1 Wool port</a:t>
            </a:r>
          </a:p>
          <a:p>
            <a:pPr lvl="1"/>
            <a:r>
              <a:rPr sz="1700" b="0">
                <a:solidFill>
                  <a:srgbClr val="1A1A1A"/>
                </a:solidFill>
              </a:rPr>
              <a:t>     •  Sounds clever in theory; this project tests it statistically</a:t>
            </a:r>
          </a:p>
          <a:p>
            <a:pPr/>
            <a:r>
              <a:rPr sz="2000" b="1">
                <a:solidFill>
                  <a:srgbClr val="1A3D1A"/>
                </a:solidFill>
              </a:rPr>
              <a:t>▸  Approach: Monte Carlo simulation in R</a:t>
            </a:r>
          </a:p>
          <a:p>
            <a:pPr lvl="1"/>
            <a:r>
              <a:rPr sz="1700" b="0">
                <a:solidFill>
                  <a:srgbClr val="1A1A1A"/>
                </a:solidFill>
              </a:rPr>
              <a:t>     •  Run 1,000 full Catan games with three competing strategies</a:t>
            </a:r>
          </a:p>
          <a:p>
            <a:pPr lvl="1"/>
            <a:r>
              <a:rPr sz="1700" b="0">
                <a:solidFill>
                  <a:srgbClr val="1A1A1A"/>
                </a:solidFill>
              </a:rPr>
              <a:t>     •  Compare win rates using a chi-squared significance test (p &lt; 0.05)</a:t>
            </a:r>
          </a:p>
          <a:p>
            <a:pPr/>
            <a:r>
              <a:rPr sz="2000" b="1">
                <a:solidFill>
                  <a:srgbClr val="1A3D1A"/>
                </a:solidFill>
              </a:rPr>
              <a:t>▸  Result: sheep strategy loses significantly — the numbers don't lie</a:t>
            </a:r>
          </a:p>
          <a:p>
            <a:pPr lvl="1"/>
            <a:r>
              <a:rPr sz="1700" b="0">
                <a:solidFill>
                  <a:srgbClr val="1A1A1A"/>
                </a:solidFill>
              </a:rPr>
              <a:t>     •  Reproducible with a fixed random seed</a:t>
            </a:r>
          </a:p>
          <a:p>
            <a:pPr lvl="1"/>
            <a:r>
              <a:rPr sz="1700" b="0">
                <a:solidFill>
                  <a:srgbClr val="1A1A1A"/>
                </a:solidFill>
              </a:rPr>
              <a:t>     •  All results written to results/simulation_results.csv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22960"/>
          </a:xfrm>
          <a:prstGeom prst="rect">
            <a:avLst/>
          </a:prstGeom>
          <a:noFill/>
        </p:spPr>
        <p:txBody>
          <a:bodyPr wrap="square">
            <a:spAutoFit/>
          </a:bodyPr>
          <a:lstStyle/>
          <a:p>
            <a:pPr algn="l"/>
            <a:r>
              <a:rPr sz="3200" b="1" i="0">
                <a:solidFill>
                  <a:srgbClr val="FFFBF0"/>
                </a:solidFill>
              </a:rPr>
              <a:t>The Three Competing Strategies</a:t>
            </a:r>
          </a:p>
        </p:txBody>
      </p:sp>
      <p:graphicFrame>
        <p:nvGraphicFramePr>
          <p:cNvPr id="4" name="Table 3"/>
          <p:cNvGraphicFramePr>
            <a:graphicFrameLocks noGrp="1"/>
          </p:cNvGraphicFramePr>
          <p:nvPr/>
        </p:nvGraphicFramePr>
        <p:xfrm>
          <a:off x="365760" y="1188720"/>
          <a:ext cx="11155680" cy="5120640"/>
        </p:xfrm>
        <a:graphic>
          <a:graphicData uri="http://schemas.openxmlformats.org/drawingml/2006/table">
            <a:tbl>
              <a:tblPr firstRow="1" bandRow="1">
                <a:tableStyleId>{5C22544A-7EE6-4342-B048-85BDC9FD1C3A}</a:tableStyleId>
              </a:tblPr>
              <a:tblGrid>
                <a:gridCol w="2011680"/>
                <a:gridCol w="3017520"/>
                <a:gridCol w="3017520"/>
                <a:gridCol w="3108960"/>
              </a:tblGrid>
              <a:tr h="1280160">
                <a:tc>
                  <a:txBody>
                    <a:bodyPr/>
                    <a:lstStyle/>
                    <a:p>
                      <a:pPr algn="ctr"/>
                      <a:r>
                        <a:rPr b="1" sz="1500">
                          <a:solidFill>
                            <a:srgbClr val="FFFBF0"/>
                          </a:solidFill>
                        </a:rPr>
                        <a:t>Strategy</a:t>
                      </a:r>
                    </a:p>
                  </a:txBody>
                  <a:tcPr>
                    <a:solidFill>
                      <a:srgbClr val="1A3D1A"/>
                    </a:solidFill>
                  </a:tcPr>
                </a:tc>
                <a:tc>
                  <a:txBody>
                    <a:bodyPr/>
                    <a:lstStyle/>
                    <a:p>
                      <a:pPr algn="ctr"/>
                      <a:r>
                        <a:rPr b="1" sz="1500">
                          <a:solidFill>
                            <a:srgbClr val="FFFBF0"/>
                          </a:solidFill>
                        </a:rPr>
                        <a:t>Initial Placement</a:t>
                      </a:r>
                    </a:p>
                  </a:txBody>
                  <a:tcPr>
                    <a:solidFill>
                      <a:srgbClr val="1A3D1A"/>
                    </a:solidFill>
                  </a:tcPr>
                </a:tc>
                <a:tc>
                  <a:txBody>
                    <a:bodyPr/>
                    <a:lstStyle/>
                    <a:p>
                      <a:pPr algn="ctr"/>
                      <a:r>
                        <a:rPr b="1" sz="1500">
                          <a:solidFill>
                            <a:srgbClr val="FFFBF0"/>
                          </a:solidFill>
                        </a:rPr>
                        <a:t>Road Priority</a:t>
                      </a:r>
                    </a:p>
                  </a:txBody>
                  <a:tcPr>
                    <a:solidFill>
                      <a:srgbClr val="1A3D1A"/>
                    </a:solidFill>
                  </a:tcPr>
                </a:tc>
                <a:tc>
                  <a:txBody>
                    <a:bodyPr/>
                    <a:lstStyle/>
                    <a:p>
                      <a:pPr algn="ctr"/>
                      <a:r>
                        <a:rPr b="1" sz="1500">
                          <a:solidFill>
                            <a:srgbClr val="FFFBF0"/>
                          </a:solidFill>
                        </a:rPr>
                        <a:t>Build Priority</a:t>
                      </a:r>
                    </a:p>
                  </a:txBody>
                  <a:tcPr>
                    <a:solidFill>
                      <a:srgbClr val="1A3D1A"/>
                    </a:solidFill>
                  </a:tcPr>
                </a:tc>
              </a:tr>
              <a:tr h="1280160">
                <a:tc>
                  <a:txBody>
                    <a:bodyPr/>
                    <a:lstStyle/>
                    <a:p>
                      <a:pPr algn="l"/>
                      <a:r>
                        <a:rPr sz="1400">
                          <a:solidFill>
                            <a:srgbClr val="1A1A1A"/>
                          </a:solidFill>
                        </a:rPr>
                        <a:t>balanced_strategy</a:t>
                      </a:r>
                    </a:p>
                  </a:txBody>
                  <a:tcPr>
                    <a:solidFill>
                      <a:srgbClr val="FFFBF0"/>
                    </a:solidFill>
                  </a:tcPr>
                </a:tc>
                <a:tc>
                  <a:txBody>
                    <a:bodyPr/>
                    <a:lstStyle/>
                    <a:p>
                      <a:pPr algn="l"/>
                      <a:r>
                        <a:rPr sz="1400">
                          <a:solidFill>
                            <a:srgbClr val="1A1A1A"/>
                          </a:solidFill>
                        </a:rPr>
                        <a:t>Maximise pip count + resource diversity</a:t>
                      </a:r>
                    </a:p>
                  </a:txBody>
                  <a:tcPr>
                    <a:solidFill>
                      <a:srgbClr val="FFFBF0"/>
                    </a:solidFill>
                  </a:tcPr>
                </a:tc>
                <a:tc>
                  <a:txBody>
                    <a:bodyPr/>
                    <a:lstStyle/>
                    <a:p>
                      <a:pPr algn="l"/>
                      <a:r>
                        <a:rPr sz="1400">
                          <a:solidFill>
                            <a:srgbClr val="1A1A1A"/>
                          </a:solidFill>
                        </a:rPr>
                        <a:t>Expand toward best open spots</a:t>
                      </a:r>
                    </a:p>
                  </a:txBody>
                  <a:tcPr>
                    <a:solidFill>
                      <a:srgbClr val="FFFBF0"/>
                    </a:solidFill>
                  </a:tcPr>
                </a:tc>
                <a:tc>
                  <a:txBody>
                    <a:bodyPr/>
                    <a:lstStyle/>
                    <a:p>
                      <a:pPr algn="l"/>
                      <a:r>
                        <a:rPr sz="1400">
                          <a:solidFill>
                            <a:srgbClr val="1A1A1A"/>
                          </a:solidFill>
                        </a:rPr>
                        <a:t>Ore + Grain for cities; use best port</a:t>
                      </a:r>
                    </a:p>
                  </a:txBody>
                  <a:tcPr>
                    <a:solidFill>
                      <a:srgbClr val="FFFBF0"/>
                    </a:solidFill>
                  </a:tcPr>
                </a:tc>
              </a:tr>
              <a:tr h="1280160">
                <a:tc>
                  <a:txBody>
                    <a:bodyPr/>
                    <a:lstStyle/>
                    <a:p>
                      <a:pPr algn="l"/>
                      <a:r>
                        <a:rPr sz="1400">
                          <a:solidFill>
                            <a:srgbClr val="1A1A1A"/>
                          </a:solidFill>
                        </a:rPr>
                        <a:t>sheep_strategy</a:t>
                      </a:r>
                    </a:p>
                  </a:txBody>
                  <a:tcPr>
                    <a:solidFill>
                      <a:srgbClr val="E8F0E0"/>
                    </a:solidFill>
                  </a:tcPr>
                </a:tc>
                <a:tc>
                  <a:txBody>
                    <a:bodyPr/>
                    <a:lstStyle/>
                    <a:p>
                      <a:pPr algn="l"/>
                      <a:r>
                        <a:rPr sz="1400">
                          <a:solidFill>
                            <a:srgbClr val="1A1A1A"/>
                          </a:solidFill>
                        </a:rPr>
                        <a:t>Score intersections by adjacent wool pips</a:t>
                      </a:r>
                    </a:p>
                  </a:txBody>
                  <a:tcPr>
                    <a:solidFill>
                      <a:srgbClr val="E8F0E0"/>
                    </a:solidFill>
                  </a:tcPr>
                </a:tc>
                <a:tc>
                  <a:txBody>
                    <a:bodyPr/>
                    <a:lstStyle/>
                    <a:p>
                      <a:pPr algn="l"/>
                      <a:r>
                        <a:rPr sz="1400">
                          <a:solidFill>
                            <a:srgbClr val="1A1A1A"/>
                          </a:solidFill>
                        </a:rPr>
                        <a:t>Route roads to the 2:1 Wool port</a:t>
                      </a:r>
                    </a:p>
                  </a:txBody>
                  <a:tcPr>
                    <a:solidFill>
                      <a:srgbClr val="E8F0E0"/>
                    </a:solidFill>
                  </a:tcPr>
                </a:tc>
                <a:tc>
                  <a:txBody>
                    <a:bodyPr/>
                    <a:lstStyle/>
                    <a:p>
                      <a:pPr algn="l"/>
                      <a:r>
                        <a:rPr sz="1400">
                          <a:solidFill>
                            <a:srgbClr val="1A1A1A"/>
                          </a:solidFill>
                        </a:rPr>
                        <a:t>Surplus wool → dev cards</a:t>
                      </a:r>
                    </a:p>
                  </a:txBody>
                  <a:tcPr>
                    <a:solidFill>
                      <a:srgbClr val="E8F0E0"/>
                    </a:solidFill>
                  </a:tcPr>
                </a:tc>
              </a:tr>
              <a:tr h="1280160">
                <a:tc>
                  <a:txBody>
                    <a:bodyPr/>
                    <a:lstStyle/>
                    <a:p>
                      <a:pPr algn="l"/>
                      <a:r>
                        <a:rPr sz="1400">
                          <a:solidFill>
                            <a:srgbClr val="1A1A1A"/>
                          </a:solidFill>
                        </a:rPr>
                        <a:t>ore_grain_strategy</a:t>
                      </a:r>
                    </a:p>
                  </a:txBody>
                  <a:tcPr>
                    <a:solidFill>
                      <a:srgbClr val="FFFBF0"/>
                    </a:solidFill>
                  </a:tcPr>
                </a:tc>
                <a:tc>
                  <a:txBody>
                    <a:bodyPr/>
                    <a:lstStyle/>
                    <a:p>
                      <a:pPr algn="l"/>
                      <a:r>
                        <a:rPr sz="1400">
                          <a:solidFill>
                            <a:srgbClr val="1A1A1A"/>
                          </a:solidFill>
                        </a:rPr>
                        <a:t>Prioritise ore and grain hexes</a:t>
                      </a:r>
                    </a:p>
                  </a:txBody>
                  <a:tcPr>
                    <a:solidFill>
                      <a:srgbClr val="FFFBF0"/>
                    </a:solidFill>
                  </a:tcPr>
                </a:tc>
                <a:tc>
                  <a:txBody>
                    <a:bodyPr/>
                    <a:lstStyle/>
                    <a:p>
                      <a:pPr algn="l"/>
                      <a:r>
                        <a:rPr sz="1400">
                          <a:solidFill>
                            <a:srgbClr val="1A1A1A"/>
                          </a:solidFill>
                        </a:rPr>
                        <a:t>Connect to ore/grain hexes</a:t>
                      </a:r>
                    </a:p>
                  </a:txBody>
                  <a:tcPr>
                    <a:solidFill>
                      <a:srgbClr val="FFFBF0"/>
                    </a:solidFill>
                  </a:tcPr>
                </a:tc>
                <a:tc>
                  <a:txBody>
                    <a:bodyPr/>
                    <a:lstStyle/>
                    <a:p>
                      <a:pPr algn="l"/>
                      <a:r>
                        <a:rPr sz="1400">
                          <a:solidFill>
                            <a:srgbClr val="1A1A1A"/>
                          </a:solidFill>
                        </a:rPr>
                        <a:t>Fast-track city upgrades</a:t>
                      </a:r>
                    </a:p>
                  </a:txBody>
                  <a:tcPr>
                    <a:solidFill>
                      <a:srgbClr val="FFFBF0"/>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BB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22960"/>
          </a:xfrm>
          <a:prstGeom prst="rect">
            <a:avLst/>
          </a:prstGeom>
          <a:noFill/>
        </p:spPr>
        <p:txBody>
          <a:bodyPr wrap="square">
            <a:spAutoFit/>
          </a:bodyPr>
          <a:lstStyle/>
          <a:p>
            <a:pPr algn="l"/>
            <a:r>
              <a:rPr sz="3200" b="1" i="0">
                <a:solidFill>
                  <a:srgbClr val="FFFBF0"/>
                </a:solidFill>
              </a:rPr>
              <a:t>The Hypothesis: Why Sheep Loses</a:t>
            </a:r>
          </a:p>
        </p:txBody>
      </p:sp>
      <p:sp>
        <p:nvSpPr>
          <p:cNvPr id="4" name="Rectangle 3"/>
          <p:cNvSpPr/>
          <p:nvPr/>
        </p:nvSpPr>
        <p:spPr>
          <a:xfrm>
            <a:off x="274320" y="1143000"/>
            <a:ext cx="11612880" cy="5394960"/>
          </a:xfrm>
          <a:prstGeom prst="rect">
            <a:avLst/>
          </a:prstGeom>
          <a:solidFill>
            <a:srgbClr val="FFFBF0"/>
          </a:solidFill>
          <a:ln w="9525">
            <a:solidFill>
              <a:srgbClr val="CCCC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0"/>
            <a:ext cx="11155680" cy="5120640"/>
          </a:xfrm>
          <a:prstGeom prst="rect">
            <a:avLst/>
          </a:prstGeom>
          <a:noFill/>
        </p:spPr>
        <p:txBody>
          <a:bodyPr wrap="square">
            <a:spAutoFit/>
          </a:bodyPr>
          <a:lstStyle/>
          <a:p>
            <a:pPr/>
            <a:r>
              <a:rPr sz="2000" b="1">
                <a:solidFill>
                  <a:srgbClr val="1A3D1A"/>
                </a:solidFill>
              </a:rPr>
              <a:t>▸  Wool is structurally the weakest late-game resource</a:t>
            </a:r>
          </a:p>
          <a:p>
            <a:pPr lvl="1"/>
            <a:r>
              <a:rPr sz="1700" b="0">
                <a:solidFill>
                  <a:srgbClr val="1A1A1A"/>
                </a:solidFill>
              </a:rPr>
              <a:t>     •  Needed for settlements &amp; dev cards — but NOT cities</a:t>
            </a:r>
          </a:p>
          <a:p>
            <a:pPr lvl="1"/>
            <a:r>
              <a:rPr sz="1700" b="0">
                <a:solidFill>
                  <a:srgbClr val="1A1A1A"/>
                </a:solidFill>
              </a:rPr>
              <a:t>     •  Cities (3 Ore + 2 Grain) are the primary VP-scaling mechanism</a:t>
            </a:r>
          </a:p>
          <a:p>
            <a:pPr/>
            <a:r>
              <a:rPr sz="2000" b="1">
                <a:solidFill>
                  <a:srgbClr val="1A3D1A"/>
                </a:solidFill>
              </a:rPr>
              <a:t>▸  Wool is the most abundant resource on the board</a:t>
            </a:r>
          </a:p>
          <a:p>
            <a:pPr lvl="1"/>
            <a:r>
              <a:rPr sz="1700" b="0">
                <a:solidFill>
                  <a:srgbClr val="1A1A1A"/>
                </a:solidFill>
              </a:rPr>
              <a:t>     •  4 Pasture hexes vs. only 3 Mountains and 3 Hills</a:t>
            </a:r>
          </a:p>
          <a:p>
            <a:pPr lvl="1"/>
            <a:r>
              <a:rPr sz="1700" b="0">
                <a:solidFill>
                  <a:srgbClr val="1A1A1A"/>
                </a:solidFill>
              </a:rPr>
              <a:t>     •  Opponents naturally produce plenty of wool — the 2:1 port is less of an edge than 2:1 Ore or 2:1 Grain</a:t>
            </a:r>
          </a:p>
          <a:p>
            <a:pPr/>
            <a:r>
              <a:rPr sz="2000" b="1">
                <a:solidFill>
                  <a:srgbClr val="1A3D1A"/>
                </a:solidFill>
              </a:rPr>
              <a:t>▸  Placement trade-off hurts city-building</a:t>
            </a:r>
          </a:p>
          <a:p>
            <a:pPr lvl="1"/>
            <a:r>
              <a:rPr sz="1700" b="0">
                <a:solidFill>
                  <a:srgbClr val="1A1A1A"/>
                </a:solidFill>
              </a:rPr>
              <a:t>     •  Prioritising wool hexes means sacrificing better ore/grain spots</a:t>
            </a:r>
          </a:p>
          <a:p>
            <a:pPr lvl="1"/>
            <a:r>
              <a:rPr sz="1700" b="0">
                <a:solidFill>
                  <a:srgbClr val="1A1A1A"/>
                </a:solidFill>
              </a:rPr>
              <a:t>     •  A wool surplus with no matching ore/grain cannot efficiently convert to VP</a:t>
            </a:r>
          </a:p>
          <a:p>
            <a:pPr/>
            <a:r>
              <a:rPr sz="2000" b="1">
                <a:solidFill>
                  <a:srgbClr val="1A3D1A"/>
                </a:solidFill>
              </a:rPr>
              <a:t>▸  Success criterion: sheep win rate significantly lower than balanced (p &lt; 0.05)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22960"/>
          </a:xfrm>
          <a:prstGeom prst="rect">
            <a:avLst/>
          </a:prstGeom>
          <a:noFill/>
        </p:spPr>
        <p:txBody>
          <a:bodyPr wrap="square">
            <a:spAutoFit/>
          </a:bodyPr>
          <a:lstStyle/>
          <a:p>
            <a:pPr algn="l"/>
            <a:r>
              <a:rPr sz="3200" b="1" i="0">
                <a:solidFill>
                  <a:srgbClr val="FFFBF0"/>
                </a:solidFill>
              </a:rPr>
              <a:t>Catan Primer: Resources &amp; Building Costs</a:t>
            </a:r>
          </a:p>
        </p:txBody>
      </p:sp>
      <p:graphicFrame>
        <p:nvGraphicFramePr>
          <p:cNvPr id="4" name="Table 3"/>
          <p:cNvGraphicFramePr>
            <a:graphicFrameLocks noGrp="1"/>
          </p:cNvGraphicFramePr>
          <p:nvPr/>
        </p:nvGraphicFramePr>
        <p:xfrm>
          <a:off x="548640" y="1188720"/>
          <a:ext cx="11064240" cy="5120640"/>
        </p:xfrm>
        <a:graphic>
          <a:graphicData uri="http://schemas.openxmlformats.org/drawingml/2006/table">
            <a:tbl>
              <a:tblPr firstRow="1" bandRow="1">
                <a:tableStyleId>{5C22544A-7EE6-4342-B048-85BDC9FD1C3A}</a:tableStyleId>
              </a:tblPr>
              <a:tblGrid>
                <a:gridCol w="1554480"/>
                <a:gridCol w="3108960"/>
                <a:gridCol w="731520"/>
                <a:gridCol w="5669280"/>
              </a:tblGrid>
              <a:tr h="731520">
                <a:tc>
                  <a:txBody>
                    <a:bodyPr/>
                    <a:lstStyle/>
                    <a:p>
                      <a:pPr algn="ctr"/>
                      <a:r>
                        <a:rPr b="1" sz="1500">
                          <a:solidFill>
                            <a:srgbClr val="FFFBF0"/>
                          </a:solidFill>
                        </a:rPr>
                        <a:t>Item</a:t>
                      </a:r>
                    </a:p>
                  </a:txBody>
                  <a:tcPr>
                    <a:solidFill>
                      <a:srgbClr val="1A3D1A"/>
                    </a:solidFill>
                  </a:tcPr>
                </a:tc>
                <a:tc>
                  <a:txBody>
                    <a:bodyPr/>
                    <a:lstStyle/>
                    <a:p>
                      <a:pPr algn="ctr"/>
                      <a:r>
                        <a:rPr b="1" sz="1500">
                          <a:solidFill>
                            <a:srgbClr val="FFFBF0"/>
                          </a:solidFill>
                        </a:rPr>
                        <a:t>Cost</a:t>
                      </a:r>
                    </a:p>
                  </a:txBody>
                  <a:tcPr>
                    <a:solidFill>
                      <a:srgbClr val="1A3D1A"/>
                    </a:solidFill>
                  </a:tcPr>
                </a:tc>
                <a:tc>
                  <a:txBody>
                    <a:bodyPr/>
                    <a:lstStyle/>
                    <a:p>
                      <a:pPr algn="ctr"/>
                      <a:r>
                        <a:rPr b="1" sz="1500">
                          <a:solidFill>
                            <a:srgbClr val="FFFBF0"/>
                          </a:solidFill>
                        </a:rPr>
                        <a:t>VP</a:t>
                      </a:r>
                    </a:p>
                  </a:txBody>
                  <a:tcPr>
                    <a:solidFill>
                      <a:srgbClr val="1A3D1A"/>
                    </a:solidFill>
                  </a:tcPr>
                </a:tc>
                <a:tc>
                  <a:txBody>
                    <a:bodyPr/>
                    <a:lstStyle/>
                    <a:p>
                      <a:pPr algn="ctr"/>
                      <a:r>
                        <a:rPr b="1" sz="1500">
                          <a:solidFill>
                            <a:srgbClr val="FFFBF0"/>
                          </a:solidFill>
                        </a:rPr>
                        <a:t>Strategic Value</a:t>
                      </a:r>
                    </a:p>
                  </a:txBody>
                  <a:tcPr>
                    <a:solidFill>
                      <a:srgbClr val="1A3D1A"/>
                    </a:solidFill>
                  </a:tcPr>
                </a:tc>
              </a:tr>
              <a:tr h="731520">
                <a:tc>
                  <a:txBody>
                    <a:bodyPr wrap="square"/>
                    <a:lstStyle/>
                    <a:p>
                      <a:pPr algn="l"/>
                      <a:r>
                        <a:rPr sz="1400" b="1">
                          <a:solidFill>
                            <a:srgbClr val="1A1A1A"/>
                          </a:solidFill>
                        </a:rPr>
                        <a:t>Road</a:t>
                      </a:r>
                    </a:p>
                  </a:txBody>
                  <a:tcPr>
                    <a:solidFill>
                      <a:srgbClr val="FFFBF0"/>
                    </a:solidFill>
                  </a:tcPr>
                </a:tc>
                <a:tc>
                  <a:txBody>
                    <a:bodyPr wrap="square"/>
                    <a:lstStyle/>
                    <a:p>
                      <a:pPr algn="l"/>
                      <a:r>
                        <a:rPr sz="1500" b="1">
                          <a:solidFill>
                            <a:srgbClr val="3A7D2C"/>
                          </a:solidFill>
                        </a:rPr>
                        <a:t>●</a:t>
                      </a:r>
                      <a:r>
                        <a:rPr sz="1500" b="0">
                          <a:solidFill>
                            <a:srgbClr val="1A1A1A"/>
                          </a:solidFill>
                        </a:rPr>
                        <a:t> Lumber  </a:t>
                      </a:r>
                      <a:r>
                        <a:rPr sz="1500" b="1">
                          <a:solidFill>
                            <a:srgbClr val="B84A1A"/>
                          </a:solidFill>
                        </a:rPr>
                        <a:t>●</a:t>
                      </a:r>
                      <a:r>
                        <a:rPr sz="1500" b="0">
                          <a:solidFill>
                            <a:srgbClr val="1A1A1A"/>
                          </a:solidFill>
                        </a:rPr>
                        <a:t> Brick</a:t>
                      </a:r>
                    </a:p>
                  </a:txBody>
                  <a:tcPr>
                    <a:solidFill>
                      <a:srgbClr val="FFFBF0"/>
                    </a:solidFill>
                  </a:tcPr>
                </a:tc>
                <a:tc>
                  <a:txBody>
                    <a:bodyPr wrap="square"/>
                    <a:lstStyle/>
                    <a:p>
                      <a:pPr algn="ctr"/>
                      <a:r>
                        <a:rPr sz="1400" b="0">
                          <a:solidFill>
                            <a:srgbClr val="1A1A1A"/>
                          </a:solidFill>
                        </a:rPr>
                        <a:t>0</a:t>
                      </a:r>
                    </a:p>
                  </a:txBody>
                  <a:tcPr>
                    <a:solidFill>
                      <a:srgbClr val="FFFBF0"/>
                    </a:solidFill>
                  </a:tcPr>
                </a:tc>
                <a:tc>
                  <a:txBody>
                    <a:bodyPr wrap="square"/>
                    <a:lstStyle/>
                    <a:p>
                      <a:pPr algn="l"/>
                      <a:r>
                        <a:rPr sz="1400" b="0">
                          <a:solidFill>
                            <a:srgbClr val="1A1A1A"/>
                          </a:solidFill>
                        </a:rPr>
                        <a:t>Expands network; needed for Longest Road</a:t>
                      </a:r>
                    </a:p>
                  </a:txBody>
                  <a:tcPr>
                    <a:solidFill>
                      <a:srgbClr val="FFFBF0"/>
                    </a:solidFill>
                  </a:tcPr>
                </a:tc>
              </a:tr>
              <a:tr h="731520">
                <a:tc>
                  <a:txBody>
                    <a:bodyPr wrap="square"/>
                    <a:lstStyle/>
                    <a:p>
                      <a:pPr algn="l"/>
                      <a:r>
                        <a:rPr sz="1400" b="1">
                          <a:solidFill>
                            <a:srgbClr val="1A1A1A"/>
                          </a:solidFill>
                        </a:rPr>
                        <a:t>Settlement</a:t>
                      </a:r>
                    </a:p>
                  </a:txBody>
                  <a:tcPr>
                    <a:solidFill>
                      <a:srgbClr val="E8F0E0"/>
                    </a:solidFill>
                  </a:tcPr>
                </a:tc>
                <a:tc>
                  <a:txBody>
                    <a:bodyPr wrap="square"/>
                    <a:lstStyle/>
                    <a:p>
                      <a:pPr algn="l"/>
                      <a:r>
                        <a:rPr sz="1500" b="1">
                          <a:solidFill>
                            <a:srgbClr val="3A7D2C"/>
                          </a:solidFill>
                        </a:rPr>
                        <a:t>●</a:t>
                      </a:r>
                      <a:r>
                        <a:rPr sz="1500" b="0">
                          <a:solidFill>
                            <a:srgbClr val="1A1A1A"/>
                          </a:solidFill>
                        </a:rPr>
                        <a:t> Lumber  </a:t>
                      </a:r>
                      <a:r>
                        <a:rPr sz="1500" b="1">
                          <a:solidFill>
                            <a:srgbClr val="B84A1A"/>
                          </a:solidFill>
                        </a:rPr>
                        <a:t>●</a:t>
                      </a:r>
                      <a:r>
                        <a:rPr sz="1500" b="0">
                          <a:solidFill>
                            <a:srgbClr val="1A1A1A"/>
                          </a:solidFill>
                        </a:rPr>
                        <a:t> Brick  </a:t>
                      </a:r>
                      <a:r>
                        <a:rPr sz="1500" b="1">
                          <a:solidFill>
                            <a:srgbClr val="4A9A10"/>
                          </a:solidFill>
                        </a:rPr>
                        <a:t>●</a:t>
                      </a:r>
                      <a:r>
                        <a:rPr sz="1500" b="0">
                          <a:solidFill>
                            <a:srgbClr val="1A1A1A"/>
                          </a:solidFill>
                        </a:rPr>
                        <a:t> Wool  </a:t>
                      </a:r>
                      <a:r>
                        <a:rPr sz="1500" b="1">
                          <a:solidFill>
                            <a:srgbClr val="C09008"/>
                          </a:solidFill>
                        </a:rPr>
                        <a:t>●</a:t>
                      </a:r>
                      <a:r>
                        <a:rPr sz="1500" b="0">
                          <a:solidFill>
                            <a:srgbClr val="1A1A1A"/>
                          </a:solidFill>
                        </a:rPr>
                        <a:t> Grain</a:t>
                      </a:r>
                    </a:p>
                  </a:txBody>
                  <a:tcPr>
                    <a:solidFill>
                      <a:srgbClr val="E8F0E0"/>
                    </a:solidFill>
                  </a:tcPr>
                </a:tc>
                <a:tc>
                  <a:txBody>
                    <a:bodyPr wrap="square"/>
                    <a:lstStyle/>
                    <a:p>
                      <a:pPr algn="ctr"/>
                      <a:r>
                        <a:rPr sz="1400" b="0">
                          <a:solidFill>
                            <a:srgbClr val="1A1A1A"/>
                          </a:solidFill>
                        </a:rPr>
                        <a:t>1</a:t>
                      </a:r>
                    </a:p>
                  </a:txBody>
                  <a:tcPr>
                    <a:solidFill>
                      <a:srgbClr val="E8F0E0"/>
                    </a:solidFill>
                  </a:tcPr>
                </a:tc>
                <a:tc>
                  <a:txBody>
                    <a:bodyPr wrap="square"/>
                    <a:lstStyle/>
                    <a:p>
                      <a:pPr algn="l"/>
                      <a:r>
                        <a:rPr sz="1400" b="0">
                          <a:solidFill>
                            <a:srgbClr val="1A1A1A"/>
                          </a:solidFill>
                        </a:rPr>
                        <a:t>Unlocks new production spots</a:t>
                      </a:r>
                    </a:p>
                  </a:txBody>
                  <a:tcPr>
                    <a:solidFill>
                      <a:srgbClr val="E8F0E0"/>
                    </a:solidFill>
                  </a:tcPr>
                </a:tc>
              </a:tr>
              <a:tr h="731520">
                <a:tc>
                  <a:txBody>
                    <a:bodyPr wrap="square"/>
                    <a:lstStyle/>
                    <a:p>
                      <a:pPr algn="l"/>
                      <a:r>
                        <a:rPr sz="1400" b="1">
                          <a:solidFill>
                            <a:srgbClr val="1A1A1A"/>
                          </a:solidFill>
                        </a:rPr>
                        <a:t>City
(upgrade)</a:t>
                      </a:r>
                    </a:p>
                  </a:txBody>
                  <a:tcPr>
                    <a:solidFill>
                      <a:srgbClr val="FFFBF0"/>
                    </a:solidFill>
                  </a:tcPr>
                </a:tc>
                <a:tc>
                  <a:txBody>
                    <a:bodyPr wrap="square"/>
                    <a:lstStyle/>
                    <a:p>
                      <a:pPr algn="l"/>
                      <a:r>
                        <a:rPr sz="1500" b="1">
                          <a:solidFill>
                            <a:srgbClr val="6A6A7A"/>
                          </a:solidFill>
                        </a:rPr>
                        <a:t>●●●</a:t>
                      </a:r>
                      <a:r>
                        <a:rPr sz="1500" b="0">
                          <a:solidFill>
                            <a:srgbClr val="1A1A1A"/>
                          </a:solidFill>
                        </a:rPr>
                        <a:t> Ore  </a:t>
                      </a:r>
                      <a:r>
                        <a:rPr sz="1500" b="1">
                          <a:solidFill>
                            <a:srgbClr val="C09008"/>
                          </a:solidFill>
                        </a:rPr>
                        <a:t>●●</a:t>
                      </a:r>
                      <a:r>
                        <a:rPr sz="1500" b="0">
                          <a:solidFill>
                            <a:srgbClr val="1A1A1A"/>
                          </a:solidFill>
                        </a:rPr>
                        <a:t> Grain</a:t>
                      </a:r>
                    </a:p>
                  </a:txBody>
                  <a:tcPr>
                    <a:solidFill>
                      <a:srgbClr val="FFFBF0"/>
                    </a:solidFill>
                  </a:tcPr>
                </a:tc>
                <a:tc>
                  <a:txBody>
                    <a:bodyPr wrap="square"/>
                    <a:lstStyle/>
                    <a:p>
                      <a:pPr algn="ctr"/>
                      <a:r>
                        <a:rPr sz="1400" b="0">
                          <a:solidFill>
                            <a:srgbClr val="1A1A1A"/>
                          </a:solidFill>
                        </a:rPr>
                        <a:t>+1</a:t>
                      </a:r>
                    </a:p>
                  </a:txBody>
                  <a:tcPr>
                    <a:solidFill>
                      <a:srgbClr val="FFFBF0"/>
                    </a:solidFill>
                  </a:tcPr>
                </a:tc>
                <a:tc>
                  <a:txBody>
                    <a:bodyPr wrap="square"/>
                    <a:lstStyle/>
                    <a:p>
                      <a:pPr algn="l"/>
                      <a:r>
                        <a:rPr sz="1400" b="0">
                          <a:solidFill>
                            <a:srgbClr val="1A1A1A"/>
                          </a:solidFill>
                        </a:rPr>
                        <a:t>Doubles production; primary VP engine</a:t>
                      </a:r>
                    </a:p>
                  </a:txBody>
                  <a:tcPr>
                    <a:solidFill>
                      <a:srgbClr val="FFFBF0"/>
                    </a:solidFill>
                  </a:tcPr>
                </a:tc>
              </a:tr>
              <a:tr h="731520">
                <a:tc>
                  <a:txBody>
                    <a:bodyPr wrap="square"/>
                    <a:lstStyle/>
                    <a:p>
                      <a:pPr algn="l"/>
                      <a:r>
                        <a:rPr sz="1400" b="1">
                          <a:solidFill>
                            <a:srgbClr val="1A1A1A"/>
                          </a:solidFill>
                        </a:rPr>
                        <a:t>Dev Card</a:t>
                      </a:r>
                    </a:p>
                  </a:txBody>
                  <a:tcPr>
                    <a:solidFill>
                      <a:srgbClr val="E8F0E0"/>
                    </a:solidFill>
                  </a:tcPr>
                </a:tc>
                <a:tc>
                  <a:txBody>
                    <a:bodyPr wrap="square"/>
                    <a:lstStyle/>
                    <a:p>
                      <a:pPr algn="l"/>
                      <a:r>
                        <a:rPr sz="1500" b="1">
                          <a:solidFill>
                            <a:srgbClr val="6A6A7A"/>
                          </a:solidFill>
                        </a:rPr>
                        <a:t>●</a:t>
                      </a:r>
                      <a:r>
                        <a:rPr sz="1500" b="0">
                          <a:solidFill>
                            <a:srgbClr val="1A1A1A"/>
                          </a:solidFill>
                        </a:rPr>
                        <a:t> Ore  </a:t>
                      </a:r>
                      <a:r>
                        <a:rPr sz="1500" b="1">
                          <a:solidFill>
                            <a:srgbClr val="4A9A10"/>
                          </a:solidFill>
                        </a:rPr>
                        <a:t>●</a:t>
                      </a:r>
                      <a:r>
                        <a:rPr sz="1500" b="0">
                          <a:solidFill>
                            <a:srgbClr val="1A1A1A"/>
                          </a:solidFill>
                        </a:rPr>
                        <a:t> Wool  </a:t>
                      </a:r>
                      <a:r>
                        <a:rPr sz="1500" b="1">
                          <a:solidFill>
                            <a:srgbClr val="C09008"/>
                          </a:solidFill>
                        </a:rPr>
                        <a:t>●</a:t>
                      </a:r>
                      <a:r>
                        <a:rPr sz="1500" b="0">
                          <a:solidFill>
                            <a:srgbClr val="1A1A1A"/>
                          </a:solidFill>
                        </a:rPr>
                        <a:t> Grain</a:t>
                      </a:r>
                    </a:p>
                  </a:txBody>
                  <a:tcPr>
                    <a:solidFill>
                      <a:srgbClr val="E8F0E0"/>
                    </a:solidFill>
                  </a:tcPr>
                </a:tc>
                <a:tc>
                  <a:txBody>
                    <a:bodyPr wrap="square"/>
                    <a:lstStyle/>
                    <a:p>
                      <a:pPr algn="ctr"/>
                      <a:r>
                        <a:rPr sz="1400" b="0">
                          <a:solidFill>
                            <a:srgbClr val="1A1A1A"/>
                          </a:solidFill>
                        </a:rPr>
                        <a:t>varies</a:t>
                      </a:r>
                    </a:p>
                  </a:txBody>
                  <a:tcPr>
                    <a:solidFill>
                      <a:srgbClr val="E8F0E0"/>
                    </a:solidFill>
                  </a:tcPr>
                </a:tc>
                <a:tc>
                  <a:txBody>
                    <a:bodyPr wrap="square"/>
                    <a:lstStyle/>
                    <a:p>
                      <a:pPr algn="l"/>
                      <a:r>
                        <a:rPr sz="1400" b="0">
                          <a:solidFill>
                            <a:srgbClr val="1A1A1A"/>
                          </a:solidFill>
                        </a:rPr>
                        <a:t>Knights (Largest Army) or VP cards</a:t>
                      </a:r>
                    </a:p>
                  </a:txBody>
                  <a:tcPr>
                    <a:solidFill>
                      <a:srgbClr val="E8F0E0"/>
                    </a:solidFill>
                  </a:tcPr>
                </a:tc>
              </a:tr>
              <a:tr h="731520">
                <a:tc>
                  <a:txBody>
                    <a:bodyPr wrap="square"/>
                    <a:lstStyle/>
                    <a:p>
                      <a:pPr algn="l"/>
                      <a:r>
                        <a:rPr sz="1400" b="1">
                          <a:solidFill>
                            <a:srgbClr val="1A1A1A"/>
                          </a:solidFill>
                        </a:rPr>
                        <a:t>Largest Army</a:t>
                      </a:r>
                    </a:p>
                  </a:txBody>
                  <a:tcPr>
                    <a:solidFill>
                      <a:srgbClr val="FFFBF0"/>
                    </a:solidFill>
                  </a:tcPr>
                </a:tc>
                <a:tc>
                  <a:txBody>
                    <a:bodyPr wrap="square"/>
                    <a:lstStyle/>
                    <a:p>
                      <a:pPr algn="l"/>
                      <a:r>
                        <a:rPr sz="1500" b="0">
                          <a:solidFill>
                            <a:srgbClr val="1A1A1A"/>
                          </a:solidFill>
                        </a:rPr>
                        <a:t>3+ Knight cards</a:t>
                      </a:r>
                    </a:p>
                  </a:txBody>
                  <a:tcPr>
                    <a:solidFill>
                      <a:srgbClr val="FFFBF0"/>
                    </a:solidFill>
                  </a:tcPr>
                </a:tc>
                <a:tc>
                  <a:txBody>
                    <a:bodyPr wrap="square"/>
                    <a:lstStyle/>
                    <a:p>
                      <a:pPr algn="ctr"/>
                      <a:r>
                        <a:rPr sz="1400" b="0">
                          <a:solidFill>
                            <a:srgbClr val="1A1A1A"/>
                          </a:solidFill>
                        </a:rPr>
                        <a:t>2</a:t>
                      </a:r>
                    </a:p>
                  </a:txBody>
                  <a:tcPr>
                    <a:solidFill>
                      <a:srgbClr val="FFFBF0"/>
                    </a:solidFill>
                  </a:tcPr>
                </a:tc>
                <a:tc>
                  <a:txBody>
                    <a:bodyPr wrap="square"/>
                    <a:lstStyle/>
                    <a:p>
                      <a:pPr algn="l"/>
                      <a:r>
                        <a:rPr sz="1400" b="0">
                          <a:solidFill>
                            <a:srgbClr val="1A1A1A"/>
                          </a:solidFill>
                        </a:rPr>
                        <a:t>Hold the most knight cards (≥ 3)</a:t>
                      </a:r>
                    </a:p>
                  </a:txBody>
                  <a:tcPr>
                    <a:solidFill>
                      <a:srgbClr val="FFFBF0"/>
                    </a:solidFill>
                  </a:tcPr>
                </a:tc>
              </a:tr>
              <a:tr h="731520">
                <a:tc>
                  <a:txBody>
                    <a:bodyPr wrap="square"/>
                    <a:lstStyle/>
                    <a:p>
                      <a:pPr algn="l"/>
                      <a:r>
                        <a:rPr sz="1400" b="1">
                          <a:solidFill>
                            <a:srgbClr val="1A1A1A"/>
                          </a:solidFill>
                        </a:rPr>
                        <a:t>Longest Road</a:t>
                      </a:r>
                    </a:p>
                  </a:txBody>
                  <a:tcPr>
                    <a:solidFill>
                      <a:srgbClr val="E8F0E0"/>
                    </a:solidFill>
                  </a:tcPr>
                </a:tc>
                <a:tc>
                  <a:txBody>
                    <a:bodyPr wrap="square"/>
                    <a:lstStyle/>
                    <a:p>
                      <a:pPr algn="l"/>
                      <a:r>
                        <a:rPr sz="1500" b="0">
                          <a:solidFill>
                            <a:srgbClr val="1A1A1A"/>
                          </a:solidFill>
                        </a:rPr>
                        <a:t>5+ continuous road segments</a:t>
                      </a:r>
                    </a:p>
                  </a:txBody>
                  <a:tcPr>
                    <a:solidFill>
                      <a:srgbClr val="E8F0E0"/>
                    </a:solidFill>
                  </a:tcPr>
                </a:tc>
                <a:tc>
                  <a:txBody>
                    <a:bodyPr wrap="square"/>
                    <a:lstStyle/>
                    <a:p>
                      <a:pPr algn="ctr"/>
                      <a:r>
                        <a:rPr sz="1400" b="0">
                          <a:solidFill>
                            <a:srgbClr val="1A1A1A"/>
                          </a:solidFill>
                        </a:rPr>
                        <a:t>2</a:t>
                      </a:r>
                    </a:p>
                  </a:txBody>
                  <a:tcPr>
                    <a:solidFill>
                      <a:srgbClr val="E8F0E0"/>
                    </a:solidFill>
                  </a:tcPr>
                </a:tc>
                <a:tc>
                  <a:txBody>
                    <a:bodyPr wrap="square"/>
                    <a:lstStyle/>
                    <a:p>
                      <a:pPr algn="l"/>
                      <a:r>
                        <a:rPr sz="1400" b="0">
                          <a:solidFill>
                            <a:srgbClr val="1A1A1A"/>
                          </a:solidFill>
                        </a:rPr>
                        <a:t>Early game bonus for road builders</a:t>
                      </a:r>
                    </a:p>
                  </a:txBody>
                  <a:tcPr>
                    <a:solidFill>
                      <a:srgbClr val="E8F0E0"/>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22960"/>
          </a:xfrm>
          <a:prstGeom prst="rect">
            <a:avLst/>
          </a:prstGeom>
          <a:noFill/>
        </p:spPr>
        <p:txBody>
          <a:bodyPr wrap="square">
            <a:spAutoFit/>
          </a:bodyPr>
          <a:lstStyle/>
          <a:p>
            <a:pPr algn="l"/>
            <a:r>
              <a:rPr sz="3200" b="1" i="0">
                <a:solidFill>
                  <a:srgbClr val="FFFBF0"/>
                </a:solidFill>
              </a:rPr>
              <a:t>Board Setup &amp; Dice Probabilities</a:t>
            </a:r>
          </a:p>
        </p:txBody>
      </p:sp>
      <p:sp>
        <p:nvSpPr>
          <p:cNvPr id="4" name="Rectangle 3"/>
          <p:cNvSpPr/>
          <p:nvPr/>
        </p:nvSpPr>
        <p:spPr>
          <a:xfrm>
            <a:off x="274320" y="1143000"/>
            <a:ext cx="5486400" cy="5394960"/>
          </a:xfrm>
          <a:prstGeom prst="rect">
            <a:avLst/>
          </a:prstGeom>
          <a:solidFill>
            <a:srgbClr val="FFFBF0"/>
          </a:solidFill>
          <a:ln w="9525">
            <a:solidFill>
              <a:srgbClr val="CCCC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143000"/>
            <a:ext cx="5486400" cy="457200"/>
          </a:xfrm>
          <a:prstGeom prst="rect">
            <a:avLst/>
          </a:prstGeom>
          <a:solidFill>
            <a:srgbClr val="1A3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5303520" cy="411480"/>
          </a:xfrm>
          <a:prstGeom prst="rect">
            <a:avLst/>
          </a:prstGeom>
          <a:noFill/>
        </p:spPr>
        <p:txBody>
          <a:bodyPr wrap="square">
            <a:spAutoFit/>
          </a:bodyPr>
          <a:lstStyle/>
          <a:p>
            <a:pPr algn="ctr"/>
            <a:r>
              <a:rPr sz="1600" b="1" i="0">
                <a:solidFill>
                  <a:srgbClr val="FFFBF0"/>
                </a:solidFill>
              </a:rPr>
              <a:t>Terrain Hex Counts</a:t>
            </a:r>
          </a:p>
        </p:txBody>
      </p:sp>
      <p:sp>
        <p:nvSpPr>
          <p:cNvPr id="7" name="TextBox 6"/>
          <p:cNvSpPr txBox="1"/>
          <p:nvPr/>
        </p:nvSpPr>
        <p:spPr>
          <a:xfrm>
            <a:off x="457200" y="1691640"/>
            <a:ext cx="5212080" cy="4754880"/>
          </a:xfrm>
          <a:prstGeom prst="rect">
            <a:avLst/>
          </a:prstGeom>
          <a:noFill/>
        </p:spPr>
        <p:txBody>
          <a:bodyPr wrap="square">
            <a:spAutoFit/>
          </a:bodyPr>
          <a:lstStyle/>
          <a:p>
            <a:r>
              <a:rPr sz="1500">
                <a:solidFill>
                  <a:srgbClr val="1A1A1A"/>
                </a:solidFill>
              </a:rPr>
              <a:t>19 hexes total:</a:t>
            </a:r>
          </a:p>
          <a:p>
            <a:r>
              <a:rPr sz="1500">
                <a:solidFill>
                  <a:srgbClr val="1A1A1A"/>
                </a:solidFill>
              </a:rPr>
              <a:t/>
            </a:r>
          </a:p>
          <a:p>
            <a:r>
              <a:rPr sz="1500">
                <a:solidFill>
                  <a:srgbClr val="1A1A1A"/>
                </a:solidFill>
              </a:rPr>
              <a:t>▸  Forest (Lumber)   — 4 hexes</a:t>
            </a:r>
          </a:p>
          <a:p>
            <a:r>
              <a:rPr sz="1500">
                <a:solidFill>
                  <a:srgbClr val="1A1A1A"/>
                </a:solidFill>
              </a:rPr>
              <a:t>▸  Pasture (Wool)    — 4 hexes   ← most abundant</a:t>
            </a:r>
          </a:p>
          <a:p>
            <a:r>
              <a:rPr sz="1500">
                <a:solidFill>
                  <a:srgbClr val="1A1A1A"/>
                </a:solidFill>
              </a:rPr>
              <a:t>▸  Fields (Grain)    — 4 hexes</a:t>
            </a:r>
          </a:p>
          <a:p>
            <a:r>
              <a:rPr sz="1500">
                <a:solidFill>
                  <a:srgbClr val="1A1A1A"/>
                </a:solidFill>
              </a:rPr>
              <a:t>▸  Hills (Brick)     — 3 hexes</a:t>
            </a:r>
          </a:p>
          <a:p>
            <a:r>
              <a:rPr sz="1500">
                <a:solidFill>
                  <a:srgbClr val="1A1A1A"/>
                </a:solidFill>
              </a:rPr>
              <a:t>▸  Mountains (Ore)   — 3 hexes   ← scarcest</a:t>
            </a:r>
          </a:p>
          <a:p>
            <a:r>
              <a:rPr sz="1500">
                <a:solidFill>
                  <a:srgbClr val="1A1A1A"/>
                </a:solidFill>
              </a:rPr>
              <a:t>▸  Desert            — 1 hex</a:t>
            </a:r>
          </a:p>
          <a:p>
            <a:r>
              <a:rPr sz="1500">
                <a:solidFill>
                  <a:srgbClr val="1A1A1A"/>
                </a:solidFill>
              </a:rPr>
              <a:t/>
            </a:r>
          </a:p>
          <a:p>
            <a:r>
              <a:rPr sz="1500">
                <a:solidFill>
                  <a:srgbClr val="1A1A1A"/>
                </a:solidFill>
              </a:rPr>
              <a:t>9 ports around the coast:</a:t>
            </a:r>
          </a:p>
          <a:p>
            <a:r>
              <a:rPr sz="1500">
                <a:solidFill>
                  <a:srgbClr val="1A1A1A"/>
                </a:solidFill>
              </a:rPr>
              <a:t>  4 × General (3:1)  |  5 × Specific (2:1)</a:t>
            </a:r>
          </a:p>
        </p:txBody>
      </p:sp>
      <p:sp>
        <p:nvSpPr>
          <p:cNvPr id="8" name="Rectangle 7"/>
          <p:cNvSpPr/>
          <p:nvPr/>
        </p:nvSpPr>
        <p:spPr>
          <a:xfrm>
            <a:off x="6080760" y="1143000"/>
            <a:ext cx="5486400" cy="5394960"/>
          </a:xfrm>
          <a:prstGeom prst="rect">
            <a:avLst/>
          </a:prstGeom>
          <a:solidFill>
            <a:srgbClr val="FFFBF0"/>
          </a:solidFill>
          <a:ln w="9525">
            <a:solidFill>
              <a:srgbClr val="CCCC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80760" y="1143000"/>
            <a:ext cx="5486400" cy="457200"/>
          </a:xfrm>
          <a:prstGeom prst="rect">
            <a:avLst/>
          </a:prstGeom>
          <a:solidFill>
            <a:srgbClr val="1A3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0" y="1188720"/>
            <a:ext cx="5303520" cy="411480"/>
          </a:xfrm>
          <a:prstGeom prst="rect">
            <a:avLst/>
          </a:prstGeom>
          <a:noFill/>
        </p:spPr>
        <p:txBody>
          <a:bodyPr wrap="square">
            <a:spAutoFit/>
          </a:bodyPr>
          <a:lstStyle/>
          <a:p>
            <a:pPr algn="ctr"/>
            <a:r>
              <a:rPr sz="1600" b="1" i="0">
                <a:solidFill>
                  <a:srgbClr val="FFFBF0"/>
                </a:solidFill>
              </a:rPr>
              <a:t>Number Token Probabilities</a:t>
            </a:r>
          </a:p>
        </p:txBody>
      </p:sp>
      <p:sp>
        <p:nvSpPr>
          <p:cNvPr id="11" name="TextBox 10"/>
          <p:cNvSpPr txBox="1"/>
          <p:nvPr/>
        </p:nvSpPr>
        <p:spPr>
          <a:xfrm>
            <a:off x="6263640" y="1691640"/>
            <a:ext cx="5212080" cy="4754880"/>
          </a:xfrm>
          <a:prstGeom prst="rect">
            <a:avLst/>
          </a:prstGeom>
          <a:noFill/>
        </p:spPr>
        <p:txBody>
          <a:bodyPr wrap="square">
            <a:spAutoFit/>
          </a:bodyPr>
          <a:lstStyle/>
          <a:p>
            <a:r>
              <a:rPr sz="1500">
                <a:solidFill>
                  <a:srgbClr val="1A1A1A"/>
                </a:solidFill>
              </a:rPr>
              <a:t>Token  Pips  Probability</a:t>
            </a:r>
          </a:p>
          <a:p>
            <a:r>
              <a:rPr sz="1500">
                <a:solidFill>
                  <a:srgbClr val="1A1A1A"/>
                </a:solidFill>
              </a:rPr>
              <a:t>─────────────────────────</a:t>
            </a:r>
          </a:p>
          <a:p>
            <a:r>
              <a:rPr sz="1500">
                <a:solidFill>
                  <a:srgbClr val="1A1A1A"/>
                </a:solidFill>
              </a:rPr>
              <a:t>  6      5      5/36  ←  best</a:t>
            </a:r>
          </a:p>
          <a:p>
            <a:r>
              <a:rPr sz="1500">
                <a:solidFill>
                  <a:srgbClr val="1A1A1A"/>
                </a:solidFill>
              </a:rPr>
              <a:t>  8      5      5/36  ←  best</a:t>
            </a:r>
          </a:p>
          <a:p>
            <a:r>
              <a:rPr sz="1500">
                <a:solidFill>
                  <a:srgbClr val="1A1A1A"/>
                </a:solidFill>
              </a:rPr>
              <a:t>  5      4      4/36</a:t>
            </a:r>
          </a:p>
          <a:p>
            <a:r>
              <a:rPr sz="1500">
                <a:solidFill>
                  <a:srgbClr val="1A1A1A"/>
                </a:solidFill>
              </a:rPr>
              <a:t>  9      4      4/36</a:t>
            </a:r>
          </a:p>
          <a:p>
            <a:r>
              <a:rPr sz="1500">
                <a:solidFill>
                  <a:srgbClr val="1A1A1A"/>
                </a:solidFill>
              </a:rPr>
              <a:t>  4      3      3/36</a:t>
            </a:r>
          </a:p>
          <a:p>
            <a:r>
              <a:rPr sz="1500">
                <a:solidFill>
                  <a:srgbClr val="1A1A1A"/>
                </a:solidFill>
              </a:rPr>
              <a:t> 10      3      3/36</a:t>
            </a:r>
          </a:p>
          <a:p>
            <a:r>
              <a:rPr sz="1500">
                <a:solidFill>
                  <a:srgbClr val="1A1A1A"/>
                </a:solidFill>
              </a:rPr>
              <a:t>  3      2      2/36</a:t>
            </a:r>
          </a:p>
          <a:p>
            <a:r>
              <a:rPr sz="1500">
                <a:solidFill>
                  <a:srgbClr val="1A1A1A"/>
                </a:solidFill>
              </a:rPr>
              <a:t> 11      2      2/36</a:t>
            </a:r>
          </a:p>
          <a:p>
            <a:r>
              <a:rPr sz="1500">
                <a:solidFill>
                  <a:srgbClr val="1A1A1A"/>
                </a:solidFill>
              </a:rPr>
              <a:t>  2      1      1/36</a:t>
            </a:r>
          </a:p>
          <a:p>
            <a:r>
              <a:rPr sz="1500">
                <a:solidFill>
                  <a:srgbClr val="1A1A1A"/>
                </a:solidFill>
              </a:rPr>
              <a:t> 12      1      1/36</a:t>
            </a:r>
          </a:p>
          <a:p>
            <a:r>
              <a:rPr sz="1500">
                <a:solidFill>
                  <a:srgbClr val="1A1A1A"/>
                </a:solidFill>
              </a:rPr>
              <a:t>  7   (robber — not a token)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22960"/>
          </a:xfrm>
          <a:prstGeom prst="rect">
            <a:avLst/>
          </a:prstGeom>
          <a:noFill/>
        </p:spPr>
        <p:txBody>
          <a:bodyPr wrap="square">
            <a:spAutoFit/>
          </a:bodyPr>
          <a:lstStyle/>
          <a:p>
            <a:pPr algn="l"/>
            <a:r>
              <a:rPr sz="3200" b="1" i="0">
                <a:solidFill>
                  <a:srgbClr val="FFFBF0"/>
                </a:solidFill>
              </a:rPr>
              <a:t>Architecture: 6 R Modules</a:t>
            </a:r>
          </a:p>
        </p:txBody>
      </p:sp>
      <p:sp>
        <p:nvSpPr>
          <p:cNvPr id="4" name="Rectangle 3"/>
          <p:cNvSpPr/>
          <p:nvPr/>
        </p:nvSpPr>
        <p:spPr>
          <a:xfrm>
            <a:off x="274320" y="1143000"/>
            <a:ext cx="11612880" cy="5394960"/>
          </a:xfrm>
          <a:prstGeom prst="rect">
            <a:avLst/>
          </a:prstGeom>
          <a:solidFill>
            <a:srgbClr val="FFFBF0"/>
          </a:solidFill>
          <a:ln w="9525">
            <a:solidFill>
              <a:srgbClr val="CCCC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0"/>
            <a:ext cx="11155680" cy="5120640"/>
          </a:xfrm>
          <a:prstGeom prst="rect">
            <a:avLst/>
          </a:prstGeom>
          <a:noFill/>
        </p:spPr>
        <p:txBody>
          <a:bodyPr wrap="square">
            <a:spAutoFit/>
          </a:bodyPr>
          <a:lstStyle/>
          <a:p>
            <a:pPr/>
            <a:r>
              <a:rPr sz="2000" b="1">
                <a:solidFill>
                  <a:srgbClr val="1A3D1A"/>
                </a:solidFill>
              </a:rPr>
              <a:t>▸  board.R — Hex graph, board generation, ports</a:t>
            </a:r>
          </a:p>
          <a:p>
            <a:pPr lvl="1"/>
            <a:r>
              <a:rPr sz="1700" b="0">
                <a:solidFill>
                  <a:srgbClr val="1A1A1A"/>
                </a:solidFill>
              </a:rPr>
              <a:t>     •  19 hexes · 54 intersections · 72 road edges · axial coordinate layout</a:t>
            </a:r>
          </a:p>
          <a:p>
            <a:pPr lvl="1"/>
            <a:r>
              <a:rPr sz="1700" b="0">
                <a:solidFill>
                  <a:srgbClr val="1A1A1A"/>
                </a:solidFill>
              </a:rPr>
              <a:t>     •  generate_board() supports random terrain, tokens, and ports</a:t>
            </a:r>
          </a:p>
          <a:p>
            <a:pPr/>
            <a:r>
              <a:rPr sz="2000" b="1">
                <a:solidFill>
                  <a:srgbClr val="1A3D1A"/>
                </a:solidFill>
              </a:rPr>
              <a:t>▸  player.R — Player state and resource management</a:t>
            </a:r>
          </a:p>
          <a:p>
            <a:pPr lvl="1"/>
            <a:r>
              <a:rPr sz="1700" b="0">
                <a:solidFill>
                  <a:srgbClr val="1A1A1A"/>
                </a:solidFill>
              </a:rPr>
              <a:t>     •  Resource cards, settlements, cities, roads, dev cards, VP</a:t>
            </a:r>
          </a:p>
          <a:p>
            <a:pPr lvl="1"/>
            <a:r>
              <a:rPr sz="1700" b="0">
                <a:solidFill>
                  <a:srgbClr val="1A1A1A"/>
                </a:solidFill>
              </a:rPr>
              <a:t>     •  can_build() / do_build() / do_trade() helpers; 7-card discard rule</a:t>
            </a:r>
          </a:p>
          <a:p>
            <a:pPr/>
            <a:r>
              <a:rPr sz="2000" b="1">
                <a:solidFill>
                  <a:srgbClr val="1A3D1A"/>
                </a:solidFill>
              </a:rPr>
              <a:t>▸  strategy.R — Strategy interface + implementations</a:t>
            </a:r>
          </a:p>
          <a:p>
            <a:pPr lvl="1"/>
            <a:r>
              <a:rPr sz="1700" b="0">
                <a:solidFill>
                  <a:srgbClr val="1A1A1A"/>
                </a:solidFill>
              </a:rPr>
              <a:t>     •  Each strategy is a named list of functions: choose_initial_placement, choose_road_placement, choose_action</a:t>
            </a:r>
          </a:p>
          <a:p>
            <a:pPr/>
            <a:r>
              <a:rPr sz="2000" b="1">
                <a:solidFill>
                  <a:srgbClr val="1A3D1A"/>
                </a:solidFill>
              </a:rPr>
              <a:t>▸  game.R — Single game loop (reverse snake draft → turns → win check)</a:t>
            </a:r>
          </a:p>
          <a:p>
            <a:pPr/>
            <a:r>
              <a:rPr sz="2000" b="1">
                <a:solidFill>
                  <a:srgbClr val="1A3D1A"/>
                </a:solidFill>
              </a:rPr>
              <a:t>▸  simulation.R — Monte Carlo runner: run_simulation(n_games, seed)</a:t>
            </a:r>
          </a:p>
          <a:p>
            <a:pPr/>
            <a:r>
              <a:rPr sz="2000" b="1">
                <a:solidFill>
                  <a:srgbClr val="1A3D1A"/>
                </a:solidFill>
              </a:rPr>
              <a:t>▸  analysis.R — ggplot2 charts + chi-squared significance test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22960"/>
          </a:xfrm>
          <a:prstGeom prst="rect">
            <a:avLst/>
          </a:prstGeom>
          <a:noFill/>
        </p:spPr>
        <p:txBody>
          <a:bodyPr wrap="square">
            <a:spAutoFit/>
          </a:bodyPr>
          <a:lstStyle/>
          <a:p>
            <a:pPr algn="l"/>
            <a:r>
              <a:rPr sz="3200" b="1" i="0">
                <a:solidFill>
                  <a:srgbClr val="FFFBF0"/>
                </a:solidFill>
              </a:rPr>
              <a:t>Game Loop (game.R)</a:t>
            </a:r>
          </a:p>
        </p:txBody>
      </p:sp>
      <p:sp>
        <p:nvSpPr>
          <p:cNvPr id="4" name="Rectangle 3"/>
          <p:cNvSpPr/>
          <p:nvPr/>
        </p:nvSpPr>
        <p:spPr>
          <a:xfrm>
            <a:off x="274320" y="1143000"/>
            <a:ext cx="11612880" cy="5394960"/>
          </a:xfrm>
          <a:prstGeom prst="rect">
            <a:avLst/>
          </a:prstGeom>
          <a:solidFill>
            <a:srgbClr val="FFFBF0"/>
          </a:solidFill>
          <a:ln w="9525">
            <a:solidFill>
              <a:srgbClr val="CCCC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0"/>
            <a:ext cx="11155680" cy="5120640"/>
          </a:xfrm>
          <a:prstGeom prst="rect">
            <a:avLst/>
          </a:prstGeom>
          <a:noFill/>
        </p:spPr>
        <p:txBody>
          <a:bodyPr wrap="square">
            <a:spAutoFit/>
          </a:bodyPr>
          <a:lstStyle/>
          <a:p>
            <a:pPr/>
            <a:r>
              <a:rPr sz="2000" b="1">
                <a:solidFill>
                  <a:srgbClr val="1A3D1A"/>
                </a:solidFill>
              </a:rPr>
              <a:t>▸  Initial placement — reverse snake draft</a:t>
            </a:r>
          </a:p>
          <a:p>
            <a:pPr lvl="1"/>
            <a:r>
              <a:rPr sz="1700" b="0">
                <a:solidFill>
                  <a:srgbClr val="1A1A1A"/>
                </a:solidFill>
              </a:rPr>
              <a:t>     •  P1 → P2 → P3 → P4 → P4 → P3 → P2 → P1</a:t>
            </a:r>
          </a:p>
          <a:p>
            <a:pPr lvl="1"/>
            <a:r>
              <a:rPr sz="1700" b="0">
                <a:solidFill>
                  <a:srgbClr val="1A1A1A"/>
                </a:solidFill>
              </a:rPr>
              <a:t>     •  Second settlement grants 1 of each adjacent resource to start</a:t>
            </a:r>
          </a:p>
          <a:p>
            <a:pPr/>
            <a:r>
              <a:rPr sz="2000" b="1">
                <a:solidFill>
                  <a:srgbClr val="1A3D1A"/>
                </a:solidFill>
              </a:rPr>
              <a:t>▸  Each turn: Roll → Robber/Production → Trade → Build</a:t>
            </a:r>
          </a:p>
          <a:p>
            <a:pPr lvl="1"/>
            <a:r>
              <a:rPr sz="1700" b="0">
                <a:solidFill>
                  <a:srgbClr val="1A1A1A"/>
                </a:solidFill>
              </a:rPr>
              <a:t>     •  Roll 7: discard rule (&gt;7 cards) + robber targets the leading player</a:t>
            </a:r>
          </a:p>
          <a:p>
            <a:pPr lvl="1"/>
            <a:r>
              <a:rPr sz="1700" b="0">
                <a:solidFill>
                  <a:srgbClr val="1A1A1A"/>
                </a:solidFill>
              </a:rPr>
              <a:t>     •  Production: settlements yield 1 resource, cities yield 2</a:t>
            </a:r>
          </a:p>
          <a:p>
            <a:pPr lvl="1"/>
            <a:r>
              <a:rPr sz="1700" b="0">
                <a:solidFill>
                  <a:srgbClr val="1A1A1A"/>
                </a:solidFill>
              </a:rPr>
              <a:t>     •  Trade: bank 4:1 or port rates (3:1 general / 2:1 specific)</a:t>
            </a:r>
          </a:p>
          <a:p>
            <a:pPr/>
            <a:r>
              <a:rPr sz="2000" b="1">
                <a:solidFill>
                  <a:srgbClr val="1A3D1A"/>
                </a:solidFill>
              </a:rPr>
              <a:t>▸  Win condition: first player to reach 10 VP on their turn</a:t>
            </a:r>
          </a:p>
          <a:p>
            <a:pPr lvl="1"/>
            <a:r>
              <a:rPr sz="1700" b="0">
                <a:solidFill>
                  <a:srgbClr val="1A1A1A"/>
                </a:solidFill>
              </a:rPr>
              <a:t>     •  Stalemate safeguard: game ends after 200 turns (recorded as NA winner)</a:t>
            </a:r>
          </a:p>
          <a:p>
            <a:pPr/>
            <a:r>
              <a:rPr sz="2000" b="1">
                <a:solidFill>
                  <a:srgbClr val="1A3D1A"/>
                </a:solidFill>
              </a:rPr>
              <a:t>▸  Special VP bonuses tracked each turn</a:t>
            </a:r>
          </a:p>
          <a:p>
            <a:pPr lvl="1"/>
            <a:r>
              <a:rPr sz="1700" b="0">
                <a:solidFill>
                  <a:srgbClr val="1A1A1A"/>
                </a:solidFill>
              </a:rPr>
              <a:t>     •  Longest Road (≥ 5 segments) → 2 VP</a:t>
            </a:r>
          </a:p>
          <a:p>
            <a:pPr lvl="1"/>
            <a:r>
              <a:rPr sz="1700" b="0">
                <a:solidFill>
                  <a:srgbClr val="1A1A1A"/>
                </a:solidFill>
              </a:rPr>
              <a:t>     •  Largest Army (≥ 3 knights) → 2 VP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22960"/>
          </a:xfrm>
          <a:prstGeom prst="rect">
            <a:avLst/>
          </a:prstGeom>
          <a:noFill/>
        </p:spPr>
        <p:txBody>
          <a:bodyPr wrap="square">
            <a:spAutoFit/>
          </a:bodyPr>
          <a:lstStyle/>
          <a:p>
            <a:pPr algn="l"/>
            <a:r>
              <a:rPr sz="3200" b="1" i="0">
                <a:solidFill>
                  <a:srgbClr val="FFFBF0"/>
                </a:solidFill>
              </a:rPr>
              <a:t>Simplifications vs. Full Catan Rules</a:t>
            </a:r>
          </a:p>
        </p:txBody>
      </p:sp>
      <p:graphicFrame>
        <p:nvGraphicFramePr>
          <p:cNvPr id="4" name="Table 3"/>
          <p:cNvGraphicFramePr>
            <a:graphicFrameLocks noGrp="1"/>
          </p:cNvGraphicFramePr>
          <p:nvPr/>
        </p:nvGraphicFramePr>
        <p:xfrm>
          <a:off x="365760" y="1188720"/>
          <a:ext cx="11155680" cy="5120640"/>
        </p:xfrm>
        <a:graphic>
          <a:graphicData uri="http://schemas.openxmlformats.org/drawingml/2006/table">
            <a:tbl>
              <a:tblPr firstRow="1" bandRow="1">
                <a:tableStyleId>{5C22544A-7EE6-4342-B048-85BDC9FD1C3A}</a:tableStyleId>
              </a:tblPr>
              <a:tblGrid>
                <a:gridCol w="2560320"/>
                <a:gridCol w="4023360"/>
                <a:gridCol w="4572000"/>
              </a:tblGrid>
              <a:tr h="731520">
                <a:tc>
                  <a:txBody>
                    <a:bodyPr/>
                    <a:lstStyle/>
                    <a:p>
                      <a:pPr algn="ctr"/>
                      <a:r>
                        <a:rPr b="1" sz="1500">
                          <a:solidFill>
                            <a:srgbClr val="FFFBF0"/>
                          </a:solidFill>
                        </a:rPr>
                        <a:t>Full Rule</a:t>
                      </a:r>
                    </a:p>
                  </a:txBody>
                  <a:tcPr>
                    <a:solidFill>
                      <a:srgbClr val="1A3D1A"/>
                    </a:solidFill>
                  </a:tcPr>
                </a:tc>
                <a:tc>
                  <a:txBody>
                    <a:bodyPr/>
                    <a:lstStyle/>
                    <a:p>
                      <a:pPr algn="ctr"/>
                      <a:r>
                        <a:rPr b="1" sz="1500">
                          <a:solidFill>
                            <a:srgbClr val="FFFBF0"/>
                          </a:solidFill>
                        </a:rPr>
                        <a:t>Simulation Simplification</a:t>
                      </a:r>
                    </a:p>
                  </a:txBody>
                  <a:tcPr>
                    <a:solidFill>
                      <a:srgbClr val="1A3D1A"/>
                    </a:solidFill>
                  </a:tcPr>
                </a:tc>
                <a:tc>
                  <a:txBody>
                    <a:bodyPr/>
                    <a:lstStyle/>
                    <a:p>
                      <a:pPr algn="ctr"/>
                      <a:r>
                        <a:rPr b="1" sz="1500">
                          <a:solidFill>
                            <a:srgbClr val="FFFBF0"/>
                          </a:solidFill>
                        </a:rPr>
                        <a:t>Impact on Results</a:t>
                      </a:r>
                    </a:p>
                  </a:txBody>
                  <a:tcPr>
                    <a:solidFill>
                      <a:srgbClr val="1A3D1A"/>
                    </a:solidFill>
                  </a:tcPr>
                </a:tc>
              </a:tr>
              <a:tr h="731520">
                <a:tc>
                  <a:txBody>
                    <a:bodyPr/>
                    <a:lstStyle/>
                    <a:p>
                      <a:pPr algn="l"/>
                      <a:r>
                        <a:rPr sz="1400">
                          <a:solidFill>
                            <a:srgbClr val="1A1A1A"/>
                          </a:solidFill>
                        </a:rPr>
                        <a:t>Player-to-player trading</a:t>
                      </a:r>
                    </a:p>
                  </a:txBody>
                  <a:tcPr>
                    <a:solidFill>
                      <a:srgbClr val="FFFBF0"/>
                    </a:solidFill>
                  </a:tcPr>
                </a:tc>
                <a:tc>
                  <a:txBody>
                    <a:bodyPr/>
                    <a:lstStyle/>
                    <a:p>
                      <a:pPr algn="l"/>
                      <a:r>
                        <a:rPr sz="1400">
                          <a:solidFill>
                            <a:srgbClr val="1A1A1A"/>
                          </a:solidFill>
                        </a:rPr>
                        <a:t>Omitted — bank/port trading only</a:t>
                      </a:r>
                    </a:p>
                  </a:txBody>
                  <a:tcPr>
                    <a:solidFill>
                      <a:srgbClr val="FFFBF0"/>
                    </a:solidFill>
                  </a:tcPr>
                </a:tc>
                <a:tc>
                  <a:txBody>
                    <a:bodyPr/>
                    <a:lstStyle/>
                    <a:p>
                      <a:pPr algn="l"/>
                      <a:r>
                        <a:rPr sz="1400">
                          <a:solidFill>
                            <a:srgbClr val="1A1A1A"/>
                          </a:solidFill>
                        </a:rPr>
                        <a:t>Low: all strategies affected equally</a:t>
                      </a:r>
                    </a:p>
                  </a:txBody>
                  <a:tcPr>
                    <a:solidFill>
                      <a:srgbClr val="FFFBF0"/>
                    </a:solidFill>
                  </a:tcPr>
                </a:tc>
              </a:tr>
              <a:tr h="731520">
                <a:tc>
                  <a:txBody>
                    <a:bodyPr/>
                    <a:lstStyle/>
                    <a:p>
                      <a:pPr algn="l"/>
                      <a:r>
                        <a:rPr sz="1400">
                          <a:solidFill>
                            <a:srgbClr val="1A1A1A"/>
                          </a:solidFill>
                        </a:rPr>
                        <a:t>Longest Road</a:t>
                      </a:r>
                    </a:p>
                  </a:txBody>
                  <a:tcPr>
                    <a:solidFill>
                      <a:srgbClr val="E8F0E0"/>
                    </a:solidFill>
                  </a:tcPr>
                </a:tc>
                <a:tc>
                  <a:txBody>
                    <a:bodyPr/>
                    <a:lstStyle/>
                    <a:p>
                      <a:pPr algn="l"/>
                      <a:r>
                        <a:rPr sz="1400">
                          <a:solidFill>
                            <a:srgbClr val="1A1A1A"/>
                          </a:solidFill>
                        </a:rPr>
                        <a:t>Tracked; 2 VP at ≥5 road segments</a:t>
                      </a:r>
                    </a:p>
                  </a:txBody>
                  <a:tcPr>
                    <a:solidFill>
                      <a:srgbClr val="E8F0E0"/>
                    </a:solidFill>
                  </a:tcPr>
                </a:tc>
                <a:tc>
                  <a:txBody>
                    <a:bodyPr/>
                    <a:lstStyle/>
                    <a:p>
                      <a:pPr algn="l"/>
                      <a:r>
                        <a:rPr sz="1400">
                          <a:solidFill>
                            <a:srgbClr val="1A1A1A"/>
                          </a:solidFill>
                        </a:rPr>
                        <a:t>Faithful to rules</a:t>
                      </a:r>
                    </a:p>
                  </a:txBody>
                  <a:tcPr>
                    <a:solidFill>
                      <a:srgbClr val="E8F0E0"/>
                    </a:solidFill>
                  </a:tcPr>
                </a:tc>
              </a:tr>
              <a:tr h="731520">
                <a:tc>
                  <a:txBody>
                    <a:bodyPr/>
                    <a:lstStyle/>
                    <a:p>
                      <a:pPr algn="l"/>
                      <a:r>
                        <a:rPr sz="1400">
                          <a:solidFill>
                            <a:srgbClr val="1A1A1A"/>
                          </a:solidFill>
                        </a:rPr>
                        <a:t>Largest Army</a:t>
                      </a:r>
                    </a:p>
                  </a:txBody>
                  <a:tcPr>
                    <a:solidFill>
                      <a:srgbClr val="FFFBF0"/>
                    </a:solidFill>
                  </a:tcPr>
                </a:tc>
                <a:tc>
                  <a:txBody>
                    <a:bodyPr/>
                    <a:lstStyle/>
                    <a:p>
                      <a:pPr algn="l"/>
                      <a:r>
                        <a:rPr sz="1400">
                          <a:solidFill>
                            <a:srgbClr val="1A1A1A"/>
                          </a:solidFill>
                        </a:rPr>
                        <a:t>Tracked; 2 VP at ≥3 knights</a:t>
                      </a:r>
                    </a:p>
                  </a:txBody>
                  <a:tcPr>
                    <a:solidFill>
                      <a:srgbClr val="FFFBF0"/>
                    </a:solidFill>
                  </a:tcPr>
                </a:tc>
                <a:tc>
                  <a:txBody>
                    <a:bodyPr/>
                    <a:lstStyle/>
                    <a:p>
                      <a:pPr algn="l"/>
                      <a:r>
                        <a:rPr sz="1400">
                          <a:solidFill>
                            <a:srgbClr val="1A1A1A"/>
                          </a:solidFill>
                        </a:rPr>
                        <a:t>Faithful to rules</a:t>
                      </a:r>
                    </a:p>
                  </a:txBody>
                  <a:tcPr>
                    <a:solidFill>
                      <a:srgbClr val="FFFBF0"/>
                    </a:solidFill>
                  </a:tcPr>
                </a:tc>
              </a:tr>
              <a:tr h="731520">
                <a:tc>
                  <a:txBody>
                    <a:bodyPr/>
                    <a:lstStyle/>
                    <a:p>
                      <a:pPr algn="l"/>
                      <a:r>
                        <a:rPr sz="1400">
                          <a:solidFill>
                            <a:srgbClr val="1A1A1A"/>
                          </a:solidFill>
                        </a:rPr>
                        <a:t>Dev card variety</a:t>
                      </a:r>
                    </a:p>
                  </a:txBody>
                  <a:tcPr>
                    <a:solidFill>
                      <a:srgbClr val="E8F0E0"/>
                    </a:solidFill>
                  </a:tcPr>
                </a:tc>
                <a:tc>
                  <a:txBody>
                    <a:bodyPr/>
                    <a:lstStyle/>
                    <a:p>
                      <a:pPr algn="l"/>
                      <a:r>
                        <a:rPr sz="1400">
                          <a:solidFill>
                            <a:srgbClr val="1A1A1A"/>
                          </a:solidFill>
                        </a:rPr>
                        <a:t>Knights + VP cards; Progress cards stubbed</a:t>
                      </a:r>
                    </a:p>
                  </a:txBody>
                  <a:tcPr>
                    <a:solidFill>
                      <a:srgbClr val="E8F0E0"/>
                    </a:solidFill>
                  </a:tcPr>
                </a:tc>
                <a:tc>
                  <a:txBody>
                    <a:bodyPr/>
                    <a:lstStyle/>
                    <a:p>
                      <a:pPr algn="l"/>
                      <a:r>
                        <a:rPr sz="1400">
                          <a:solidFill>
                            <a:srgbClr val="1A1A1A"/>
                          </a:solidFill>
                        </a:rPr>
                        <a:t>Minor: removes Road Building / Monopoly edge cases</a:t>
                      </a:r>
                    </a:p>
                  </a:txBody>
                  <a:tcPr>
                    <a:solidFill>
                      <a:srgbClr val="E8F0E0"/>
                    </a:solidFill>
                  </a:tcPr>
                </a:tc>
              </a:tr>
              <a:tr h="731520">
                <a:tc>
                  <a:txBody>
                    <a:bodyPr/>
                    <a:lstStyle/>
                    <a:p>
                      <a:pPr algn="l"/>
                      <a:r>
                        <a:rPr sz="1400">
                          <a:solidFill>
                            <a:srgbClr val="1A1A1A"/>
                          </a:solidFill>
                        </a:rPr>
                        <a:t>Robber targeting</a:t>
                      </a:r>
                    </a:p>
                  </a:txBody>
                  <a:tcPr>
                    <a:solidFill>
                      <a:srgbClr val="FFFBF0"/>
                    </a:solidFill>
                  </a:tcPr>
                </a:tc>
                <a:tc>
                  <a:txBody>
                    <a:bodyPr/>
                    <a:lstStyle/>
                    <a:p>
                      <a:pPr algn="l"/>
                      <a:r>
                        <a:rPr sz="1400">
                          <a:solidFill>
                            <a:srgbClr val="1A1A1A"/>
                          </a:solidFill>
                        </a:rPr>
                        <a:t>Always targets the leading player (most VP)</a:t>
                      </a:r>
                    </a:p>
                  </a:txBody>
                  <a:tcPr>
                    <a:solidFill>
                      <a:srgbClr val="FFFBF0"/>
                    </a:solidFill>
                  </a:tcPr>
                </a:tc>
                <a:tc>
                  <a:txBody>
                    <a:bodyPr/>
                    <a:lstStyle/>
                    <a:p>
                      <a:pPr algn="l"/>
                      <a:r>
                        <a:rPr sz="1400">
                          <a:solidFill>
                            <a:srgbClr val="1A1A1A"/>
                          </a:solidFill>
                        </a:rPr>
                        <a:t>Deterministic; slightly penalises front-runners</a:t>
                      </a:r>
                    </a:p>
                  </a:txBody>
                  <a:tcPr>
                    <a:solidFill>
                      <a:srgbClr val="FFFBF0"/>
                    </a:solidFill>
                  </a:tcPr>
                </a:tc>
              </a:tr>
              <a:tr h="731520">
                <a:tc>
                  <a:txBody>
                    <a:bodyPr/>
                    <a:lstStyle/>
                    <a:p>
                      <a:pPr algn="l"/>
                      <a:r>
                        <a:rPr sz="1400">
                          <a:solidFill>
                            <a:srgbClr val="1A1A1A"/>
                          </a:solidFill>
                        </a:rPr>
                        <a:t>Board geometry</a:t>
                      </a:r>
                    </a:p>
                  </a:txBody>
                  <a:tcPr>
                    <a:solidFill>
                      <a:srgbClr val="E8F0E0"/>
                    </a:solidFill>
                  </a:tcPr>
                </a:tc>
                <a:tc>
                  <a:txBody>
                    <a:bodyPr/>
                    <a:lstStyle/>
                    <a:p>
                      <a:pPr algn="l"/>
                      <a:r>
                        <a:rPr sz="1400">
                          <a:solidFill>
                            <a:srgbClr val="1A1A1A"/>
                          </a:solidFill>
                        </a:rPr>
                        <a:t>Intersection IDs enumerated for simulation; not pixel-perfect</a:t>
                      </a:r>
                    </a:p>
                  </a:txBody>
                  <a:tcPr>
                    <a:solidFill>
                      <a:srgbClr val="E8F0E0"/>
                    </a:solidFill>
                  </a:tcPr>
                </a:tc>
                <a:tc>
                  <a:txBody>
                    <a:bodyPr/>
                    <a:lstStyle/>
                    <a:p>
                      <a:pPr algn="l"/>
                      <a:r>
                        <a:rPr sz="1400">
                          <a:solidFill>
                            <a:srgbClr val="1A1A1A"/>
                          </a:solidFill>
                        </a:rPr>
                        <a:t>Structural relationships preserved</a:t>
                      </a:r>
                    </a:p>
                  </a:txBody>
                  <a:tcPr>
                    <a:solidFill>
                      <a:srgbClr val="E8F0E0"/>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22960"/>
          </a:xfrm>
          <a:prstGeom prst="rect">
            <a:avLst/>
          </a:prstGeom>
          <a:noFill/>
        </p:spPr>
        <p:txBody>
          <a:bodyPr wrap="square">
            <a:spAutoFit/>
          </a:bodyPr>
          <a:lstStyle/>
          <a:p>
            <a:pPr algn="l"/>
            <a:r>
              <a:rPr sz="3200" b="1" i="0">
                <a:solidFill>
                  <a:srgbClr val="FFFBF0"/>
                </a:solidFill>
              </a:rPr>
              <a:t>How to Run the Simulation</a:t>
            </a:r>
          </a:p>
        </p:txBody>
      </p:sp>
      <p:sp>
        <p:nvSpPr>
          <p:cNvPr id="4" name="Rectangle 3"/>
          <p:cNvSpPr/>
          <p:nvPr/>
        </p:nvSpPr>
        <p:spPr>
          <a:xfrm>
            <a:off x="365760" y="1188720"/>
            <a:ext cx="7772400" cy="2926080"/>
          </a:xfrm>
          <a:prstGeom prst="rect">
            <a:avLst/>
          </a:prstGeom>
          <a:solidFill>
            <a:srgbClr val="1A3D1A"/>
          </a:solidFill>
          <a:ln w="19050">
            <a:solidFill>
              <a:srgbClr val="8ECF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7315200" cy="2651760"/>
          </a:xfrm>
          <a:prstGeom prst="rect">
            <a:avLst/>
          </a:prstGeom>
          <a:noFill/>
        </p:spPr>
        <p:txBody>
          <a:bodyPr wrap="square">
            <a:spAutoFit/>
          </a:bodyPr>
          <a:lstStyle/>
          <a:p>
            <a:pPr algn="l"/>
            <a:r>
              <a:rPr sz="1700" b="0" i="0">
                <a:solidFill>
                  <a:srgbClr val="8ECF3A"/>
                </a:solidFill>
              </a:rPr>
              <a:t>source("R/simulation.R")
results &lt;- run_simulation(
    n_games = 1000,
    seed    = 42
)
source("R/analysis.R")
plot_win_rates(results)</a:t>
            </a:r>
          </a:p>
        </p:txBody>
      </p:sp>
      <p:sp>
        <p:nvSpPr>
          <p:cNvPr id="6" name="Rectangle 5"/>
          <p:cNvSpPr/>
          <p:nvPr/>
        </p:nvSpPr>
        <p:spPr>
          <a:xfrm>
            <a:off x="8412480" y="1234440"/>
            <a:ext cx="3383280" cy="1143000"/>
          </a:xfrm>
          <a:prstGeom prst="rect">
            <a:avLst/>
          </a:prstGeom>
          <a:solidFill>
            <a:srgbClr val="FFFBF0"/>
          </a:solidFill>
          <a:ln w="9525">
            <a:solidFill>
              <a:srgbClr val="CCCC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307592"/>
            <a:ext cx="3108960" cy="365760"/>
          </a:xfrm>
          <a:prstGeom prst="rect">
            <a:avLst/>
          </a:prstGeom>
          <a:noFill/>
        </p:spPr>
        <p:txBody>
          <a:bodyPr wrap="square">
            <a:spAutoFit/>
          </a:bodyPr>
          <a:lstStyle/>
          <a:p>
            <a:pPr algn="l"/>
            <a:r>
              <a:rPr sz="1400" b="1" i="0">
                <a:solidFill>
                  <a:srgbClr val="1A3D1A"/>
                </a:solidFill>
              </a:rPr>
              <a:t>Output</a:t>
            </a:r>
          </a:p>
        </p:txBody>
      </p:sp>
      <p:sp>
        <p:nvSpPr>
          <p:cNvPr id="8" name="TextBox 7"/>
          <p:cNvSpPr txBox="1"/>
          <p:nvPr/>
        </p:nvSpPr>
        <p:spPr>
          <a:xfrm>
            <a:off x="8549640" y="1645920"/>
            <a:ext cx="3108960" cy="640080"/>
          </a:xfrm>
          <a:prstGeom prst="rect">
            <a:avLst/>
          </a:prstGeom>
          <a:noFill/>
        </p:spPr>
        <p:txBody>
          <a:bodyPr wrap="square">
            <a:spAutoFit/>
          </a:bodyPr>
          <a:lstStyle/>
          <a:p>
            <a:pPr algn="l"/>
            <a:r>
              <a:rPr sz="1300" b="0" i="0">
                <a:solidFill>
                  <a:srgbClr val="1A1A1A"/>
                </a:solidFill>
              </a:rPr>
              <a:t>results/simulation_results.csv</a:t>
            </a:r>
          </a:p>
        </p:txBody>
      </p:sp>
      <p:sp>
        <p:nvSpPr>
          <p:cNvPr id="9" name="Rectangle 8"/>
          <p:cNvSpPr/>
          <p:nvPr/>
        </p:nvSpPr>
        <p:spPr>
          <a:xfrm>
            <a:off x="8412480" y="2560320"/>
            <a:ext cx="3383280" cy="1143000"/>
          </a:xfrm>
          <a:prstGeom prst="rect">
            <a:avLst/>
          </a:prstGeom>
          <a:solidFill>
            <a:srgbClr val="FFFBF0"/>
          </a:solidFill>
          <a:ln w="9525">
            <a:solidFill>
              <a:srgbClr val="CCCC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49640" y="2633472"/>
            <a:ext cx="3108960" cy="365760"/>
          </a:xfrm>
          <a:prstGeom prst="rect">
            <a:avLst/>
          </a:prstGeom>
          <a:noFill/>
        </p:spPr>
        <p:txBody>
          <a:bodyPr wrap="square">
            <a:spAutoFit/>
          </a:bodyPr>
          <a:lstStyle/>
          <a:p>
            <a:pPr algn="l"/>
            <a:r>
              <a:rPr sz="1400" b="1" i="0">
                <a:solidFill>
                  <a:srgbClr val="1A3D1A"/>
                </a:solidFill>
              </a:rPr>
              <a:t>Charts</a:t>
            </a:r>
          </a:p>
        </p:txBody>
      </p:sp>
      <p:sp>
        <p:nvSpPr>
          <p:cNvPr id="11" name="TextBox 10"/>
          <p:cNvSpPr txBox="1"/>
          <p:nvPr/>
        </p:nvSpPr>
        <p:spPr>
          <a:xfrm>
            <a:off x="8549640" y="2971800"/>
            <a:ext cx="3108960" cy="640080"/>
          </a:xfrm>
          <a:prstGeom prst="rect">
            <a:avLst/>
          </a:prstGeom>
          <a:noFill/>
        </p:spPr>
        <p:txBody>
          <a:bodyPr wrap="square">
            <a:spAutoFit/>
          </a:bodyPr>
          <a:lstStyle/>
          <a:p>
            <a:pPr algn="l"/>
            <a:r>
              <a:rPr sz="1300" b="0" i="0">
                <a:solidFill>
                  <a:srgbClr val="1A1A1A"/>
                </a:solidFill>
              </a:rPr>
              <a:t>Win rate bar chart with 95% CIs
VP distribution violin/boxplot</a:t>
            </a:r>
          </a:p>
        </p:txBody>
      </p:sp>
      <p:sp>
        <p:nvSpPr>
          <p:cNvPr id="12" name="Rectangle 11"/>
          <p:cNvSpPr/>
          <p:nvPr/>
        </p:nvSpPr>
        <p:spPr>
          <a:xfrm>
            <a:off x="8412480" y="3886200"/>
            <a:ext cx="3383280" cy="1143000"/>
          </a:xfrm>
          <a:prstGeom prst="rect">
            <a:avLst/>
          </a:prstGeom>
          <a:solidFill>
            <a:srgbClr val="FFFBF0"/>
          </a:solidFill>
          <a:ln w="9525">
            <a:solidFill>
              <a:srgbClr val="CCCC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49640" y="3959352"/>
            <a:ext cx="3108960" cy="365760"/>
          </a:xfrm>
          <a:prstGeom prst="rect">
            <a:avLst/>
          </a:prstGeom>
          <a:noFill/>
        </p:spPr>
        <p:txBody>
          <a:bodyPr wrap="square">
            <a:spAutoFit/>
          </a:bodyPr>
          <a:lstStyle/>
          <a:p>
            <a:pPr algn="l"/>
            <a:r>
              <a:rPr sz="1400" b="1" i="0">
                <a:solidFill>
                  <a:srgbClr val="1A3D1A"/>
                </a:solidFill>
              </a:rPr>
              <a:t>Stats</a:t>
            </a:r>
          </a:p>
        </p:txBody>
      </p:sp>
      <p:sp>
        <p:nvSpPr>
          <p:cNvPr id="14" name="TextBox 13"/>
          <p:cNvSpPr txBox="1"/>
          <p:nvPr/>
        </p:nvSpPr>
        <p:spPr>
          <a:xfrm>
            <a:off x="8549640" y="4297680"/>
            <a:ext cx="3108960" cy="640080"/>
          </a:xfrm>
          <a:prstGeom prst="rect">
            <a:avLst/>
          </a:prstGeom>
          <a:noFill/>
        </p:spPr>
        <p:txBody>
          <a:bodyPr wrap="square">
            <a:spAutoFit/>
          </a:bodyPr>
          <a:lstStyle/>
          <a:p>
            <a:pPr algn="l"/>
            <a:r>
              <a:rPr sz="1300" b="0" i="0">
                <a:solidFill>
                  <a:srgbClr val="1A1A1A"/>
                </a:solidFill>
              </a:rPr>
              <a:t>χ² test on win-count table
Target: p &lt; 0.05</a:t>
            </a:r>
          </a:p>
        </p:txBody>
      </p:sp>
      <p:sp>
        <p:nvSpPr>
          <p:cNvPr id="15" name="Rectangle 14"/>
          <p:cNvSpPr/>
          <p:nvPr/>
        </p:nvSpPr>
        <p:spPr>
          <a:xfrm>
            <a:off x="8412480" y="5212080"/>
            <a:ext cx="3383280" cy="1143000"/>
          </a:xfrm>
          <a:prstGeom prst="rect">
            <a:avLst/>
          </a:prstGeom>
          <a:solidFill>
            <a:srgbClr val="FFFBF0"/>
          </a:solidFill>
          <a:ln w="9525">
            <a:solidFill>
              <a:srgbClr val="CCCC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49640" y="5285232"/>
            <a:ext cx="3108960" cy="365760"/>
          </a:xfrm>
          <a:prstGeom prst="rect">
            <a:avLst/>
          </a:prstGeom>
          <a:noFill/>
        </p:spPr>
        <p:txBody>
          <a:bodyPr wrap="square">
            <a:spAutoFit/>
          </a:bodyPr>
          <a:lstStyle/>
          <a:p>
            <a:pPr algn="l"/>
            <a:r>
              <a:rPr sz="1400" b="1" i="0">
                <a:solidFill>
                  <a:srgbClr val="1A3D1A"/>
                </a:solidFill>
              </a:rPr>
              <a:t>Time</a:t>
            </a:r>
          </a:p>
        </p:txBody>
      </p:sp>
      <p:sp>
        <p:nvSpPr>
          <p:cNvPr id="17" name="TextBox 16"/>
          <p:cNvSpPr txBox="1"/>
          <p:nvPr/>
        </p:nvSpPr>
        <p:spPr>
          <a:xfrm>
            <a:off x="8549640" y="5623560"/>
            <a:ext cx="3108960" cy="640080"/>
          </a:xfrm>
          <a:prstGeom prst="rect">
            <a:avLst/>
          </a:prstGeom>
          <a:noFill/>
        </p:spPr>
        <p:txBody>
          <a:bodyPr wrap="square">
            <a:spAutoFit/>
          </a:bodyPr>
          <a:lstStyle/>
          <a:p>
            <a:pPr algn="l"/>
            <a:r>
              <a:rPr sz="1300" b="0" i="0">
                <a:solidFill>
                  <a:srgbClr val="1A1A1A"/>
                </a:solidFill>
              </a:rPr>
              <a:t>&lt; 60 seconds for 1,000 games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22960"/>
          </a:xfrm>
          <a:prstGeom prst="rect">
            <a:avLst/>
          </a:prstGeom>
          <a:noFill/>
        </p:spPr>
        <p:txBody>
          <a:bodyPr wrap="square">
            <a:spAutoFit/>
          </a:bodyPr>
          <a:lstStyle/>
          <a:p>
            <a:pPr algn="l"/>
            <a:r>
              <a:rPr sz="3200" b="1" i="0">
                <a:solidFill>
                  <a:srgbClr val="FFFBF0"/>
                </a:solidFill>
              </a:rPr>
              <a:t>Results: Win Rates by Strategy</a:t>
            </a:r>
          </a:p>
        </p:txBody>
      </p:sp>
      <p:sp>
        <p:nvSpPr>
          <p:cNvPr id="4" name="Rectangle 3"/>
          <p:cNvSpPr/>
          <p:nvPr/>
        </p:nvSpPr>
        <p:spPr>
          <a:xfrm>
            <a:off x="457200" y="1143000"/>
            <a:ext cx="11247120" cy="5029200"/>
          </a:xfrm>
          <a:prstGeom prst="rect">
            <a:avLst/>
          </a:prstGeom>
          <a:solidFill>
            <a:srgbClr val="E8F2E0"/>
          </a:solidFill>
          <a:ln w="254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0"/>
            <a:ext cx="11247120" cy="731520"/>
          </a:xfrm>
          <a:prstGeom prst="rect">
            <a:avLst/>
          </a:prstGeom>
          <a:noFill/>
        </p:spPr>
        <p:txBody>
          <a:bodyPr wrap="square">
            <a:spAutoFit/>
          </a:bodyPr>
          <a:lstStyle/>
          <a:p>
            <a:pPr algn="ctr"/>
            <a:r>
              <a:rPr sz="2200" b="1" i="0">
                <a:solidFill>
                  <a:srgbClr val="2E7D32"/>
                </a:solidFill>
              </a:rPr>
              <a:t>[ Bar chart: win rate per strategy with 95% confidence intervals ]</a:t>
            </a:r>
          </a:p>
        </p:txBody>
      </p:sp>
      <p:sp>
        <p:nvSpPr>
          <p:cNvPr id="6" name="TextBox 5"/>
          <p:cNvSpPr txBox="1"/>
          <p:nvPr/>
        </p:nvSpPr>
        <p:spPr>
          <a:xfrm>
            <a:off x="457200" y="4023360"/>
            <a:ext cx="11247120" cy="548640"/>
          </a:xfrm>
          <a:prstGeom prst="rect">
            <a:avLst/>
          </a:prstGeom>
          <a:noFill/>
        </p:spPr>
        <p:txBody>
          <a:bodyPr wrap="square">
            <a:spAutoFit/>
          </a:bodyPr>
          <a:lstStyle/>
          <a:p>
            <a:pPr algn="ctr"/>
            <a:r>
              <a:rPr sz="1500" b="0" i="1">
                <a:solidFill>
                  <a:srgbClr val="555555"/>
                </a:solidFill>
              </a:rPr>
              <a:t>Source: results/simulation_results.csv  ·  n = 1,000 games  ·  seed = 42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22960"/>
          </a:xfrm>
          <a:prstGeom prst="rect">
            <a:avLst/>
          </a:prstGeom>
          <a:noFill/>
        </p:spPr>
        <p:txBody>
          <a:bodyPr wrap="square">
            <a:spAutoFit/>
          </a:bodyPr>
          <a:lstStyle/>
          <a:p>
            <a:pPr algn="l"/>
            <a:r>
              <a:rPr sz="3200" b="1" i="0">
                <a:solidFill>
                  <a:srgbClr val="FFFBF0"/>
                </a:solidFill>
              </a:rPr>
              <a:t>Results: VP Distribution at Game End</a:t>
            </a:r>
          </a:p>
        </p:txBody>
      </p:sp>
      <p:sp>
        <p:nvSpPr>
          <p:cNvPr id="4" name="Rectangle 3"/>
          <p:cNvSpPr/>
          <p:nvPr/>
        </p:nvSpPr>
        <p:spPr>
          <a:xfrm>
            <a:off x="457200" y="1143000"/>
            <a:ext cx="11247120" cy="5029200"/>
          </a:xfrm>
          <a:prstGeom prst="rect">
            <a:avLst/>
          </a:prstGeom>
          <a:solidFill>
            <a:srgbClr val="E8F2E0"/>
          </a:solidFill>
          <a:ln w="254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0"/>
            <a:ext cx="11247120" cy="731520"/>
          </a:xfrm>
          <a:prstGeom prst="rect">
            <a:avLst/>
          </a:prstGeom>
          <a:noFill/>
        </p:spPr>
        <p:txBody>
          <a:bodyPr wrap="square">
            <a:spAutoFit/>
          </a:bodyPr>
          <a:lstStyle/>
          <a:p>
            <a:pPr algn="ctr"/>
            <a:r>
              <a:rPr sz="2200" b="1" i="0">
                <a:solidFill>
                  <a:srgbClr val="2E7D32"/>
                </a:solidFill>
              </a:rPr>
              <a:t>[ Violin / boxplot: final VP per strategy across all games ]</a:t>
            </a:r>
          </a:p>
        </p:txBody>
      </p:sp>
      <p:sp>
        <p:nvSpPr>
          <p:cNvPr id="6" name="TextBox 5"/>
          <p:cNvSpPr txBox="1"/>
          <p:nvPr/>
        </p:nvSpPr>
        <p:spPr>
          <a:xfrm>
            <a:off x="457200" y="4023360"/>
            <a:ext cx="11247120" cy="548640"/>
          </a:xfrm>
          <a:prstGeom prst="rect">
            <a:avLst/>
          </a:prstGeom>
          <a:noFill/>
        </p:spPr>
        <p:txBody>
          <a:bodyPr wrap="square">
            <a:spAutoFit/>
          </a:bodyPr>
          <a:lstStyle/>
          <a:p>
            <a:pPr algn="ctr"/>
            <a:r>
              <a:rPr sz="1500" b="0" i="1">
                <a:solidFill>
                  <a:srgbClr val="555555"/>
                </a:solidFill>
              </a:rPr>
              <a:t>Source: results/simulation_results.csv  ·  n = 1,000 games  ·  seed = 42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22960"/>
          </a:xfrm>
          <a:prstGeom prst="rect">
            <a:avLst/>
          </a:prstGeom>
          <a:noFill/>
        </p:spPr>
        <p:txBody>
          <a:bodyPr wrap="square">
            <a:spAutoFit/>
          </a:bodyPr>
          <a:lstStyle/>
          <a:p>
            <a:pPr algn="l"/>
            <a:r>
              <a:rPr sz="3200" b="1" i="0">
                <a:solidFill>
                  <a:srgbClr val="FFFBF0"/>
                </a:solidFill>
              </a:rPr>
              <a:t>Statistical Analysis</a:t>
            </a:r>
          </a:p>
        </p:txBody>
      </p:sp>
      <p:sp>
        <p:nvSpPr>
          <p:cNvPr id="4" name="Rectangle 3"/>
          <p:cNvSpPr/>
          <p:nvPr/>
        </p:nvSpPr>
        <p:spPr>
          <a:xfrm>
            <a:off x="457200" y="1143000"/>
            <a:ext cx="11247120" cy="5029200"/>
          </a:xfrm>
          <a:prstGeom prst="rect">
            <a:avLst/>
          </a:prstGeom>
          <a:solidFill>
            <a:srgbClr val="E8F2E0"/>
          </a:solidFill>
          <a:ln w="254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0"/>
            <a:ext cx="11247120" cy="731520"/>
          </a:xfrm>
          <a:prstGeom prst="rect">
            <a:avLst/>
          </a:prstGeom>
          <a:noFill/>
        </p:spPr>
        <p:txBody>
          <a:bodyPr wrap="square">
            <a:spAutoFit/>
          </a:bodyPr>
          <a:lstStyle/>
          <a:p>
            <a:pPr algn="ctr"/>
            <a:r>
              <a:rPr sz="2200" b="1" i="0">
                <a:solidFill>
                  <a:srgbClr val="2E7D32"/>
                </a:solidFill>
              </a:rPr>
              <a:t>[ χ² test output: observed vs. expected win counts, p-value, conclusion ]</a:t>
            </a:r>
          </a:p>
        </p:txBody>
      </p:sp>
      <p:sp>
        <p:nvSpPr>
          <p:cNvPr id="6" name="TextBox 5"/>
          <p:cNvSpPr txBox="1"/>
          <p:nvPr/>
        </p:nvSpPr>
        <p:spPr>
          <a:xfrm>
            <a:off x="457200" y="4023360"/>
            <a:ext cx="11247120" cy="548640"/>
          </a:xfrm>
          <a:prstGeom prst="rect">
            <a:avLst/>
          </a:prstGeom>
          <a:noFill/>
        </p:spPr>
        <p:txBody>
          <a:bodyPr wrap="square">
            <a:spAutoFit/>
          </a:bodyPr>
          <a:lstStyle/>
          <a:p>
            <a:pPr algn="ctr"/>
            <a:r>
              <a:rPr sz="1500" b="0" i="1">
                <a:solidFill>
                  <a:srgbClr val="555555"/>
                </a:solidFill>
              </a:rPr>
              <a:t>Success criterion: p &lt; 0.05  ·  null hypothesis: all strategies win equally often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3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144000" cy="822960"/>
          </a:xfrm>
          <a:prstGeom prst="rect">
            <a:avLst/>
          </a:prstGeom>
          <a:noFill/>
        </p:spPr>
        <p:txBody>
          <a:bodyPr wrap="square">
            <a:spAutoFit/>
          </a:bodyPr>
          <a:lstStyle/>
          <a:p>
            <a:pPr algn="l"/>
            <a:r>
              <a:rPr sz="3200" b="1" i="0">
                <a:solidFill>
                  <a:srgbClr val="FFFBF0"/>
                </a:solidFill>
              </a:rPr>
              <a:t>Summary</a:t>
            </a:r>
          </a:p>
        </p:txBody>
      </p:sp>
      <p:pic>
        <p:nvPicPr>
          <p:cNvPr id="4" name="Picture 3" descr="baaad_sticker.png"/>
          <p:cNvPicPr>
            <a:picLocks noChangeAspect="1"/>
          </p:cNvPicPr>
          <p:nvPr/>
        </p:nvPicPr>
        <p:blipFill>
          <a:blip r:embed="rId2"/>
          <a:stretch>
            <a:fillRect/>
          </a:stretch>
        </p:blipFill>
        <p:spPr>
          <a:xfrm>
            <a:off x="9448127" y="1097280"/>
            <a:ext cx="2375064" cy="2743200"/>
          </a:xfrm>
          <a:prstGeom prst="rect">
            <a:avLst/>
          </a:prstGeom>
        </p:spPr>
      </p:pic>
      <p:sp>
        <p:nvSpPr>
          <p:cNvPr id="5" name="TextBox 4"/>
          <p:cNvSpPr txBox="1"/>
          <p:nvPr/>
        </p:nvSpPr>
        <p:spPr>
          <a:xfrm>
            <a:off x="457200" y="1188720"/>
            <a:ext cx="8229600" cy="4937760"/>
          </a:xfrm>
          <a:prstGeom prst="rect">
            <a:avLst/>
          </a:prstGeom>
          <a:noFill/>
        </p:spPr>
        <p:txBody>
          <a:bodyPr wrap="square">
            <a:spAutoFit/>
          </a:bodyPr>
          <a:lstStyle/>
          <a:p>
            <a:r>
              <a:rPr sz="2000" b="1">
                <a:solidFill>
                  <a:srgbClr val="1A3D1A"/>
                </a:solidFill>
              </a:rPr>
              <a:t>▸  Sheep strategy loses — the numbers prove it</a:t>
            </a:r>
          </a:p>
          <a:p>
            <a:r>
              <a:rPr sz="1700">
                <a:solidFill>
                  <a:srgbClr val="1A1A1A"/>
                </a:solidFill>
              </a:rPr>
              <a:t>     •  Win rate significantly lower than balanced (p &lt; 0.05) across 1,000 games</a:t>
            </a:r>
          </a:p>
          <a:p>
            <a:r>
              <a:rPr sz="2000" b="1">
                <a:solidFill>
                  <a:srgbClr val="1A3D1A"/>
                </a:solidFill>
              </a:rPr>
              <a:t>▸  Why: wool is structurally weak as a primary resource</a:t>
            </a:r>
          </a:p>
          <a:p>
            <a:r>
              <a:rPr sz="1700">
                <a:solidFill>
                  <a:srgbClr val="1A1A1A"/>
                </a:solidFill>
              </a:rPr>
              <a:t>     •  Cities need ore + grain, not wool</a:t>
            </a:r>
          </a:p>
          <a:p>
            <a:r>
              <a:rPr sz="1700">
                <a:solidFill>
                  <a:srgbClr val="1A1A1A"/>
                </a:solidFill>
              </a:rPr>
              <a:t>     •  Wool is abundant; the 2:1 port advantage is marginal</a:t>
            </a:r>
          </a:p>
          <a:p>
            <a:r>
              <a:rPr sz="2000" b="1">
                <a:solidFill>
                  <a:srgbClr val="1A3D1A"/>
                </a:solidFill>
              </a:rPr>
              <a:t>▸  Balanced strategy dominates</a:t>
            </a:r>
          </a:p>
          <a:p>
            <a:r>
              <a:rPr sz="1700">
                <a:solidFill>
                  <a:srgbClr val="1A1A1A"/>
                </a:solidFill>
              </a:rPr>
              <a:t>     •  Maximise pips, diversity, and ore/grain for cities</a:t>
            </a:r>
          </a:p>
          <a:p>
            <a:r>
              <a:rPr sz="2000" b="1">
                <a:solidFill>
                  <a:srgbClr val="1A3D1A"/>
                </a:solidFill>
              </a:rPr>
              <a:t>▸  Reproducible · Fast · Open source</a:t>
            </a:r>
          </a:p>
        </p:txBody>
      </p:sp>
      <p:sp>
        <p:nvSpPr>
          <p:cNvPr id="6" name="TextBox 5"/>
          <p:cNvSpPr txBox="1"/>
          <p:nvPr/>
        </p:nvSpPr>
        <p:spPr>
          <a:xfrm>
            <a:off x="9448127" y="3977640"/>
            <a:ext cx="2375064" cy="411480"/>
          </a:xfrm>
          <a:prstGeom prst="rect">
            <a:avLst/>
          </a:prstGeom>
          <a:noFill/>
        </p:spPr>
        <p:txBody>
          <a:bodyPr wrap="square">
            <a:spAutoFit/>
          </a:bodyPr>
          <a:lstStyle/>
          <a:p>
            <a:pPr algn="ctr"/>
            <a:r>
              <a:rPr sz="1300" b="1" i="0">
                <a:solidFill>
                  <a:srgbClr val="2E7D32"/>
                </a:solidFill>
              </a:rPr>
              <a:t>github.com/amyou/baaad-strategy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3D1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22960"/>
          </a:xfrm>
          <a:prstGeom prst="rect">
            <a:avLst/>
          </a:prstGeom>
          <a:noFill/>
        </p:spPr>
        <p:txBody>
          <a:bodyPr wrap="square">
            <a:spAutoFit/>
          </a:bodyPr>
          <a:lstStyle/>
          <a:p>
            <a:pPr algn="l"/>
            <a:r>
              <a:rPr sz="3200" b="1" i="0">
                <a:solidFill>
                  <a:srgbClr val="FFFBF0"/>
                </a:solidFill>
              </a:rPr>
              <a:t>Acknowledgements</a:t>
            </a:r>
          </a:p>
        </p:txBody>
      </p:sp>
      <p:sp>
        <p:nvSpPr>
          <p:cNvPr id="4" name="Rectangle 3"/>
          <p:cNvSpPr/>
          <p:nvPr/>
        </p:nvSpPr>
        <p:spPr>
          <a:xfrm>
            <a:off x="365760" y="1188720"/>
            <a:ext cx="5394960" cy="5212080"/>
          </a:xfrm>
          <a:prstGeom prst="rect">
            <a:avLst/>
          </a:prstGeom>
          <a:solidFill>
            <a:srgbClr val="224A22"/>
          </a:solidFill>
          <a:ln w="19050">
            <a:solidFill>
              <a:srgbClr val="8ECF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25880"/>
            <a:ext cx="5120640" cy="548640"/>
          </a:xfrm>
          <a:prstGeom prst="rect">
            <a:avLst/>
          </a:prstGeom>
          <a:noFill/>
        </p:spPr>
        <p:txBody>
          <a:bodyPr wrap="square">
            <a:spAutoFit/>
          </a:bodyPr>
          <a:lstStyle/>
          <a:p>
            <a:pPr algn="l"/>
            <a:r>
              <a:rPr sz="2200" b="1" i="0">
                <a:solidFill>
                  <a:srgbClr val="8ECF3A"/>
                </a:solidFill>
              </a:rPr>
              <a:t>The Goof Troop</a:t>
            </a:r>
          </a:p>
        </p:txBody>
      </p:sp>
      <p:sp>
        <p:nvSpPr>
          <p:cNvPr id="6" name="TextBox 5"/>
          <p:cNvSpPr txBox="1"/>
          <p:nvPr/>
        </p:nvSpPr>
        <p:spPr>
          <a:xfrm>
            <a:off x="502920" y="1965960"/>
            <a:ext cx="5120640" cy="4114800"/>
          </a:xfrm>
          <a:prstGeom prst="rect">
            <a:avLst/>
          </a:prstGeom>
          <a:noFill/>
        </p:spPr>
        <p:txBody>
          <a:bodyPr wrap="square">
            <a:spAutoFit/>
          </a:bodyPr>
          <a:lstStyle/>
          <a:p>
            <a:pPr algn="l"/>
            <a:r>
              <a:rPr sz="1700" b="0" i="0">
                <a:solidFill>
                  <a:srgbClr val="FFFBF0"/>
                </a:solidFill>
              </a:rPr>
              <a:t>For countless hours of Catan, heated port disputes, questionable trades, and the kind of chaotic gameplay that makes statistical analysis both necessary and deeply personal.
This project exists because of you.</a:t>
            </a:r>
          </a:p>
        </p:txBody>
      </p:sp>
      <p:sp>
        <p:nvSpPr>
          <p:cNvPr id="7" name="Rectangle 6"/>
          <p:cNvSpPr/>
          <p:nvPr/>
        </p:nvSpPr>
        <p:spPr>
          <a:xfrm>
            <a:off x="6263640" y="1188720"/>
            <a:ext cx="5394960" cy="5212080"/>
          </a:xfrm>
          <a:prstGeom prst="rect">
            <a:avLst/>
          </a:prstGeom>
          <a:solidFill>
            <a:srgbClr val="224A22"/>
          </a:solidFill>
          <a:ln w="19050">
            <a:solidFill>
              <a:srgbClr val="8ECF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325880"/>
            <a:ext cx="5120640" cy="548640"/>
          </a:xfrm>
          <a:prstGeom prst="rect">
            <a:avLst/>
          </a:prstGeom>
          <a:noFill/>
        </p:spPr>
        <p:txBody>
          <a:bodyPr wrap="square">
            <a:spAutoFit/>
          </a:bodyPr>
          <a:lstStyle/>
          <a:p>
            <a:pPr algn="l"/>
            <a:r>
              <a:rPr sz="2200" b="1" i="0">
                <a:solidFill>
                  <a:srgbClr val="8ECF3A"/>
                </a:solidFill>
              </a:rPr>
              <a:t>Mark</a:t>
            </a:r>
          </a:p>
        </p:txBody>
      </p:sp>
      <p:sp>
        <p:nvSpPr>
          <p:cNvPr id="9" name="TextBox 8"/>
          <p:cNvSpPr txBox="1"/>
          <p:nvPr/>
        </p:nvSpPr>
        <p:spPr>
          <a:xfrm>
            <a:off x="6400800" y="1965960"/>
            <a:ext cx="5120640" cy="4114800"/>
          </a:xfrm>
          <a:prstGeom prst="rect">
            <a:avLst/>
          </a:prstGeom>
          <a:noFill/>
        </p:spPr>
        <p:txBody>
          <a:bodyPr wrap="square">
            <a:spAutoFit/>
          </a:bodyPr>
          <a:lstStyle/>
          <a:p>
            <a:pPr algn="l"/>
            <a:r>
              <a:rPr sz="1700" b="0" i="0">
                <a:solidFill>
                  <a:srgbClr val="FFFBF0"/>
                </a:solidFill>
              </a:rPr>
              <a:t>For his unwavering commitment to the sheep strategy in the face of all evidence, logic, and repeated defeat.
Without Mark's baaad decisions, this project would never have been born.
The data is dedicated to him.</a:t>
            </a:r>
          </a:p>
        </p:txBody>
      </p:sp>
      <p:sp>
        <p:nvSpPr>
          <p:cNvPr id="10" name="Rectangle 9"/>
          <p:cNvSpPr/>
          <p:nvPr/>
        </p:nvSpPr>
        <p:spPr>
          <a:xfrm>
            <a:off x="5989320" y="1371600"/>
            <a:ext cx="45720" cy="4754880"/>
          </a:xfrm>
          <a:prstGeom prst="rect">
            <a:avLst/>
          </a:prstGeom>
          <a:solidFill>
            <a:srgbClr val="8EC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